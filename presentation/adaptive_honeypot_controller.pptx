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[0:00–0:20] OPENING — 20 seconds</a:t>
            </a:r>
          </a:p>
          <a:p/>
          <a:p>
            <a:r>
              <a:rPr sz="1100"/>
              <a:t>"Hi everyone. I'm KK, and for my ENGR-202C project I built an Adaptive Honeypot Controller — an AI system that autonomously detects, deceives, and learns from cyber attackers in real time.</a:t>
            </a:r>
          </a:p>
          <a:p/>
          <a:p>
            <a:r>
              <a:rPr sz="1100"/>
              <a:t>The core problem: traditional honeypots are static. They sit and wait, and experienced attackers recognize them quickly. What if the honeypot could think and adapt on its own? That's exactly what this system does."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[0:20–0:45] PROBLEM &amp; GOAL — 25 seconds</a:t>
            </a:r>
          </a:p>
          <a:p/>
          <a:p>
            <a:r>
              <a:rPr sz="1100"/>
              <a:t>"There are three fundamental gaps in static honeypots. Fixed configurations can't respond to evolving tactics. No memory means every session starts blind — patterns go unlearned. And any strategy change requires a human in the loop.</a:t>
            </a:r>
          </a:p>
          <a:p/>
          <a:p>
            <a:r>
              <a:rPr sz="1100"/>
              <a:t>Our goal was to close all three gaps: simulate realistic multi-phase attackers, deploy an autonomous agent that reacts in real time, and build a memory layer so the system gets smarter with every cycle."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[0:45–1:15] ARCHITECTURE — 30 seconds</a:t>
            </a:r>
          </a:p>
          <a:p/>
          <a:p>
            <a:r>
              <a:rPr sz="1100"/>
              <a:t>"The system has three layers. The SimulatedHoneypot manages concurrent attackers, tracks phase transitions, and deploys deception artifacts like fake endpoints and honeytokens.</a:t>
            </a:r>
          </a:p>
          <a:p/>
          <a:p>
            <a:r>
              <a:rPr sz="1100"/>
              <a:t>The HoneypotAgent is the brain — it calls Google's Gemini API each cycle to reason about the best response, and falls back to rule-based logic if the API is unavailable.</a:t>
            </a:r>
          </a:p>
          <a:p/>
          <a:p>
            <a:r>
              <a:rPr sz="1100"/>
              <a:t>Connecting them is an AgentMemory layer — a rolling window of 100 experiences that tracks success rates per action and blocks the agent from repeating failed strategies."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[1:15–1:35] ARCHITECTURE DIAGRAM — 20 seconds</a:t>
            </a:r>
          </a:p>
          <a:p/>
          <a:p>
            <a:r>
              <a:rPr sz="1100"/>
              <a:t>"Here's the full system at a glance. The Streamlit dashboard sits at the top, feeding user actions down to the Application Core. On the left, the SimulatedHoneypot handles state and configuration. On the right, the HoneypotAgent runs the four-step loop: Observe via honeypot.status(), Decide via choose_action(), Act via apply_action(), and Evaluate by updating scores and storing the experience in AgentMemory.</a:t>
            </a:r>
          </a:p>
          <a:p/>
          <a:p>
            <a:r>
              <a:rPr sz="1100"/>
              <a:t>The Gemini API is optional — the system degrades gracefully to rules if it's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[1:35–2:30] LIVE DEMO — 55 seconds</a:t>
            </a:r>
          </a:p>
          <a:p/>
          <a:p>
            <a:r>
              <a:rPr sz="1100"/>
              <a:t>"Here's the dashboard running live. On the left you can see the attacker phase pie chart — at this point three attackers are active, 75% in brute_force phase and 25% still scanning. The score chart on the right shows the Agent score climbing as cycles run, while Risk stays managed.</a:t>
            </a:r>
          </a:p>
          <a:p/>
          <a:p>
            <a:r>
              <a:rPr sz="1100"/>
              <a:t>On the right screenshot you can see the attacker table — four IPs tracked with individual risk scores, aggression, and skill ratings. Below that is the event log showing real-time decisions: the agent deployed a fake_vuln endpoint at /cgi-bin/debug when exploit behavior was detected, and you can see the Gemini API quota being hit and the system falling back to rule-based logic automatically — exactly the graceful degradation we designed for."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[2:30–3:15] PHASES &amp; AGENT LOOP — 45 seconds</a:t>
            </a:r>
          </a:p>
          <a:p/>
          <a:p>
            <a:r>
              <a:rPr sz="1100"/>
              <a:t>"Attackers move through six phases — from low-risk Scanning all the way to Data Exfiltration. The agent's response escalates with them.</a:t>
            </a:r>
          </a:p>
          <a:p/>
          <a:p>
            <a:r>
              <a:rPr sz="1100"/>
              <a:t>During Brute Force, it increases login delay to slow down password attacks. During Exploit, it deploys a fake vulnerable endpoint to trap the attacker. During Persistence and Exfiltration, it drops a honeytoken — fake credentials that trigger an alert the moment they're touched.</a:t>
            </a:r>
          </a:p>
          <a:p/>
          <a:p>
            <a:r>
              <a:rPr sz="1100"/>
              <a:t>The four-step loop runs every cycle: Observe the phase distribution, Decide the best action using Gemini or rules, Act by mutating the honeypot config, then Evaluate by recording the outcome in memory. If an action fails more than 60% of the time, the memory system flags it as avoidable — the agent literally learns from its mistakes."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t>[3:15–4:00] RESULTS &amp; TAKEAWAYS — 45 seconds</a:t>
            </a:r>
          </a:p>
          <a:p/>
          <a:p>
            <a:r>
              <a:rPr sz="1100"/>
              <a:t>"To summarize: the agent managed 6 attack phases, executed 4 distinct response actions, maintained 100 experiences in its rolling memory, and surfaced everything across 4 dashboard tabs.</a:t>
            </a:r>
          </a:p>
          <a:p/>
          <a:p>
            <a:r>
              <a:rPr sz="1100"/>
              <a:t>What worked well: the agent correctly distinguished concurrent attackers with different behaviors, adapted strategy as phases escalated, and memory-based avoidance prevented it from repeating failed actions.</a:t>
            </a:r>
          </a:p>
          <a:p/>
          <a:p>
            <a:r>
              <a:rPr sz="1100"/>
              <a:t>Honest limitations: Gemini API latency runs 2–3 seconds per call — too slow for production. The agent can be over-reactive to single anomalous events before a pattern is established. And memory resets on restart — cross-session persistence is the top next improvement.</a:t>
            </a:r>
          </a:p>
          <a:p/>
          <a:p>
            <a:r>
              <a:rPr sz="1100"/>
              <a:t>If I had more time I'd add a local LLM fallback for speed and implement persistent memory across sessions. 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754880" cy="685800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05840"/>
            <a:ext cx="4114800" cy="2194560"/>
          </a:xfrm>
          <a:prstGeom prst="rect">
            <a:avLst/>
          </a:prstGeom>
          <a:noFill/>
        </p:spPr>
        <p:txBody>
          <a:bodyPr wrap="square">
            <a:spAutoFit/>
          </a:bodyPr>
          <a:lstStyle/>
          <a:p>
            <a:pPr algn="l"/>
            <a:r>
              <a:rPr sz="4800" b="1" i="0">
                <a:solidFill>
                  <a:srgbClr val="FFFFFF"/>
                </a:solidFill>
              </a:rPr>
              <a:t>Adaptive
Honeypot</a:t>
            </a:r>
          </a:p>
        </p:txBody>
      </p:sp>
      <p:sp>
        <p:nvSpPr>
          <p:cNvPr id="4" name="TextBox 3"/>
          <p:cNvSpPr txBox="1"/>
          <p:nvPr/>
        </p:nvSpPr>
        <p:spPr>
          <a:xfrm>
            <a:off x="411480" y="3108960"/>
            <a:ext cx="4114800" cy="914400"/>
          </a:xfrm>
          <a:prstGeom prst="rect">
            <a:avLst/>
          </a:prstGeom>
          <a:noFill/>
        </p:spPr>
        <p:txBody>
          <a:bodyPr wrap="square">
            <a:spAutoFit/>
          </a:bodyPr>
          <a:lstStyle/>
          <a:p>
            <a:pPr algn="l"/>
            <a:r>
              <a:rPr sz="4800" b="1" i="0">
                <a:solidFill>
                  <a:srgbClr val="0087A8"/>
                </a:solidFill>
              </a:rPr>
              <a:t>Controller</a:t>
            </a:r>
          </a:p>
        </p:txBody>
      </p:sp>
      <p:sp>
        <p:nvSpPr>
          <p:cNvPr id="5" name="TextBox 4"/>
          <p:cNvSpPr txBox="1"/>
          <p:nvPr/>
        </p:nvSpPr>
        <p:spPr>
          <a:xfrm>
            <a:off x="411480" y="4160520"/>
            <a:ext cx="4023360" cy="1280160"/>
          </a:xfrm>
          <a:prstGeom prst="rect">
            <a:avLst/>
          </a:prstGeom>
          <a:noFill/>
        </p:spPr>
        <p:txBody>
          <a:bodyPr wrap="square">
            <a:spAutoFit/>
          </a:bodyPr>
          <a:lstStyle/>
          <a:p>
            <a:pPr algn="l"/>
            <a:r>
              <a:rPr sz="1400" b="0" i="1">
                <a:solidFill>
                  <a:srgbClr val="A0AFBF"/>
                </a:solidFill>
              </a:rPr>
              <a:t>An AI-Driven Observe → Decide
Act → Evaluate Loop
for Simulated Cyber Threat Response</a:t>
            </a:r>
          </a:p>
        </p:txBody>
      </p:sp>
      <p:sp>
        <p:nvSpPr>
          <p:cNvPr id="6" name="Rectangle 5"/>
          <p:cNvSpPr/>
          <p:nvPr/>
        </p:nvSpPr>
        <p:spPr>
          <a:xfrm>
            <a:off x="5120640" y="2011680"/>
            <a:ext cx="6400800" cy="9144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20640" y="2011680"/>
            <a:ext cx="6400800" cy="64008"/>
          </a:xfrm>
          <a:prstGeom prst="rect">
            <a:avLst/>
          </a:prstGeom>
          <a:solidFill>
            <a:srgbClr val="008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49240" y="2212848"/>
            <a:ext cx="5943600" cy="502920"/>
          </a:xfrm>
          <a:prstGeom prst="rect">
            <a:avLst/>
          </a:prstGeom>
          <a:noFill/>
        </p:spPr>
        <p:txBody>
          <a:bodyPr wrap="square">
            <a:spAutoFit/>
          </a:bodyPr>
          <a:lstStyle/>
          <a:p>
            <a:pPr algn="l"/>
            <a:r>
              <a:rPr sz="1800" b="1" i="0">
                <a:solidFill>
                  <a:srgbClr val="1A2F5E"/>
                </a:solidFill>
              </a:rPr>
              <a:t>🔍  Honeypot Simulation</a:t>
            </a:r>
          </a:p>
        </p:txBody>
      </p:sp>
      <p:sp>
        <p:nvSpPr>
          <p:cNvPr id="9" name="Rectangle 8"/>
          <p:cNvSpPr/>
          <p:nvPr/>
        </p:nvSpPr>
        <p:spPr>
          <a:xfrm>
            <a:off x="5120640" y="3291840"/>
            <a:ext cx="6400800" cy="9144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0640" y="3291840"/>
            <a:ext cx="6400800" cy="64008"/>
          </a:xfrm>
          <a:prstGeom prst="rect">
            <a:avLst/>
          </a:prstGeom>
          <a:solidFill>
            <a:srgbClr val="D48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3493008"/>
            <a:ext cx="5943600" cy="502920"/>
          </a:xfrm>
          <a:prstGeom prst="rect">
            <a:avLst/>
          </a:prstGeom>
          <a:noFill/>
        </p:spPr>
        <p:txBody>
          <a:bodyPr wrap="square">
            <a:spAutoFit/>
          </a:bodyPr>
          <a:lstStyle/>
          <a:p>
            <a:pPr algn="l"/>
            <a:r>
              <a:rPr sz="1800" b="1" i="0">
                <a:solidFill>
                  <a:srgbClr val="1A2F5E"/>
                </a:solidFill>
              </a:rPr>
              <a:t>🤖  Gemini AI Agent</a:t>
            </a:r>
          </a:p>
        </p:txBody>
      </p:sp>
      <p:sp>
        <p:nvSpPr>
          <p:cNvPr id="12" name="Rectangle 11"/>
          <p:cNvSpPr/>
          <p:nvPr/>
        </p:nvSpPr>
        <p:spPr>
          <a:xfrm>
            <a:off x="5120640" y="4572000"/>
            <a:ext cx="6400800" cy="9144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20640" y="4572000"/>
            <a:ext cx="6400800" cy="64008"/>
          </a:xfrm>
          <a:prstGeom prst="rect">
            <a:avLst/>
          </a:prstGeom>
          <a:solidFill>
            <a:srgbClr val="1A7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49240" y="4773168"/>
            <a:ext cx="5943600" cy="502920"/>
          </a:xfrm>
          <a:prstGeom prst="rect">
            <a:avLst/>
          </a:prstGeom>
          <a:noFill/>
        </p:spPr>
        <p:txBody>
          <a:bodyPr wrap="square">
            <a:spAutoFit/>
          </a:bodyPr>
          <a:lstStyle/>
          <a:p>
            <a:pPr algn="l"/>
            <a:r>
              <a:rPr sz="1800" b="1" i="0">
                <a:solidFill>
                  <a:srgbClr val="1A2F5E"/>
                </a:solidFill>
              </a:rPr>
              <a:t>📊  Live Dashboard</a:t>
            </a:r>
          </a:p>
        </p:txBody>
      </p:sp>
      <p:sp>
        <p:nvSpPr>
          <p:cNvPr id="15" name="TextBox 14"/>
          <p:cNvSpPr txBox="1"/>
          <p:nvPr/>
        </p:nvSpPr>
        <p:spPr>
          <a:xfrm>
            <a:off x="5120640" y="5623560"/>
            <a:ext cx="6583680" cy="411480"/>
          </a:xfrm>
          <a:prstGeom prst="rect">
            <a:avLst/>
          </a:prstGeom>
          <a:noFill/>
        </p:spPr>
        <p:txBody>
          <a:bodyPr wrap="square">
            <a:spAutoFit/>
          </a:bodyPr>
          <a:lstStyle/>
          <a:p>
            <a:pPr algn="ctr"/>
            <a:r>
              <a:rPr sz="1300" b="0" i="0">
                <a:solidFill>
                  <a:srgbClr val="A0AFBF"/>
                </a:solidFill>
              </a:rPr>
              <a:t>KK  ·  ENGR-202C  ·  UCLA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29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144000" cy="411480"/>
          </a:xfrm>
          <a:prstGeom prst="rect">
            <a:avLst/>
          </a:prstGeom>
          <a:noFill/>
        </p:spPr>
        <p:txBody>
          <a:bodyPr wrap="square">
            <a:spAutoFit/>
          </a:bodyPr>
          <a:lstStyle/>
          <a:p>
            <a:pPr algn="l"/>
            <a:r>
              <a:rPr sz="2200" b="1" i="0">
                <a:solidFill>
                  <a:srgbClr val="FFFFFF"/>
                </a:solidFill>
              </a:rPr>
              <a:t>The Problem &amp; Our Goal</a:t>
            </a:r>
          </a:p>
        </p:txBody>
      </p:sp>
      <p:sp>
        <p:nvSpPr>
          <p:cNvPr id="4" name="TextBox 3"/>
          <p:cNvSpPr txBox="1"/>
          <p:nvPr/>
        </p:nvSpPr>
        <p:spPr>
          <a:xfrm>
            <a:off x="411480" y="594360"/>
            <a:ext cx="8229600" cy="347472"/>
          </a:xfrm>
          <a:prstGeom prst="rect">
            <a:avLst/>
          </a:prstGeom>
          <a:noFill/>
        </p:spPr>
        <p:txBody>
          <a:bodyPr wrap="square">
            <a:spAutoFit/>
          </a:bodyPr>
          <a:lstStyle/>
          <a:p>
            <a:pPr algn="l"/>
            <a:r>
              <a:rPr sz="1400" b="0" i="1">
                <a:solidFill>
                  <a:srgbClr val="55657A"/>
                </a:solidFill>
              </a:rPr>
              <a:t>Traditional honeypots are passive — they observe but can't adapt.</a:t>
            </a:r>
          </a:p>
        </p:txBody>
      </p:sp>
      <p:sp>
        <p:nvSpPr>
          <p:cNvPr id="5" name="Rectangle 4"/>
          <p:cNvSpPr/>
          <p:nvPr/>
        </p:nvSpPr>
        <p:spPr>
          <a:xfrm>
            <a:off x="365760" y="1051560"/>
            <a:ext cx="5303520" cy="11430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51560"/>
            <a:ext cx="5303520" cy="64008"/>
          </a:xfrm>
          <a:prstGeom prst="rect">
            <a:avLst/>
          </a:prstGeom>
          <a:solidFill>
            <a:srgbClr val="C0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216151"/>
            <a:ext cx="4846320" cy="347472"/>
          </a:xfrm>
          <a:prstGeom prst="rect">
            <a:avLst/>
          </a:prstGeom>
          <a:noFill/>
        </p:spPr>
        <p:txBody>
          <a:bodyPr wrap="square">
            <a:spAutoFit/>
          </a:bodyPr>
          <a:lstStyle/>
          <a:p>
            <a:pPr algn="l"/>
            <a:r>
              <a:rPr sz="1500" b="1" i="0">
                <a:solidFill>
                  <a:srgbClr val="C0352A"/>
                </a:solidFill>
              </a:rPr>
              <a:t>Static Configuration</a:t>
            </a:r>
          </a:p>
        </p:txBody>
      </p:sp>
      <p:sp>
        <p:nvSpPr>
          <p:cNvPr id="8" name="TextBox 7"/>
          <p:cNvSpPr txBox="1"/>
          <p:nvPr/>
        </p:nvSpPr>
        <p:spPr>
          <a:xfrm>
            <a:off x="594360" y="1600200"/>
            <a:ext cx="4846320" cy="502920"/>
          </a:xfrm>
          <a:prstGeom prst="rect">
            <a:avLst/>
          </a:prstGeom>
          <a:noFill/>
        </p:spPr>
        <p:txBody>
          <a:bodyPr wrap="square">
            <a:spAutoFit/>
          </a:bodyPr>
          <a:lstStyle/>
          <a:p>
            <a:pPr algn="l"/>
            <a:r>
              <a:rPr sz="1200" b="0" i="0">
                <a:solidFill>
                  <a:srgbClr val="55657A"/>
                </a:solidFill>
              </a:rPr>
              <a:t>Fixed rules can't respond to evolving attacker behavior</a:t>
            </a:r>
          </a:p>
        </p:txBody>
      </p:sp>
      <p:sp>
        <p:nvSpPr>
          <p:cNvPr id="9" name="Rectangle 8"/>
          <p:cNvSpPr/>
          <p:nvPr/>
        </p:nvSpPr>
        <p:spPr>
          <a:xfrm>
            <a:off x="365760" y="2423160"/>
            <a:ext cx="5303520" cy="11430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423160"/>
            <a:ext cx="5303520" cy="64008"/>
          </a:xfrm>
          <a:prstGeom prst="rect">
            <a:avLst/>
          </a:prstGeom>
          <a:solidFill>
            <a:srgbClr val="D48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587752"/>
            <a:ext cx="4846320" cy="347472"/>
          </a:xfrm>
          <a:prstGeom prst="rect">
            <a:avLst/>
          </a:prstGeom>
          <a:noFill/>
        </p:spPr>
        <p:txBody>
          <a:bodyPr wrap="square">
            <a:spAutoFit/>
          </a:bodyPr>
          <a:lstStyle/>
          <a:p>
            <a:pPr algn="l"/>
            <a:r>
              <a:rPr sz="1500" b="1" i="0">
                <a:solidFill>
                  <a:srgbClr val="D48E00"/>
                </a:solidFill>
              </a:rPr>
              <a:t>No Persistent Memory</a:t>
            </a:r>
          </a:p>
        </p:txBody>
      </p:sp>
      <p:sp>
        <p:nvSpPr>
          <p:cNvPr id="12" name="TextBox 11"/>
          <p:cNvSpPr txBox="1"/>
          <p:nvPr/>
        </p:nvSpPr>
        <p:spPr>
          <a:xfrm>
            <a:off x="594360" y="2971800"/>
            <a:ext cx="4846320" cy="502920"/>
          </a:xfrm>
          <a:prstGeom prst="rect">
            <a:avLst/>
          </a:prstGeom>
          <a:noFill/>
        </p:spPr>
        <p:txBody>
          <a:bodyPr wrap="square">
            <a:spAutoFit/>
          </a:bodyPr>
          <a:lstStyle/>
          <a:p>
            <a:pPr algn="l"/>
            <a:r>
              <a:rPr sz="1200" b="0" i="0">
                <a:solidFill>
                  <a:srgbClr val="55657A"/>
                </a:solidFill>
              </a:rPr>
              <a:t>Each session starts fresh — attack patterns go unlearned</a:t>
            </a:r>
          </a:p>
        </p:txBody>
      </p:sp>
      <p:sp>
        <p:nvSpPr>
          <p:cNvPr id="13" name="Rectangle 12"/>
          <p:cNvSpPr/>
          <p:nvPr/>
        </p:nvSpPr>
        <p:spPr>
          <a:xfrm>
            <a:off x="365760" y="3794760"/>
            <a:ext cx="5303520" cy="11430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3794760"/>
            <a:ext cx="5303520" cy="64008"/>
          </a:xfrm>
          <a:prstGeom prst="rect">
            <a:avLst/>
          </a:prstGeom>
          <a:solidFill>
            <a:srgbClr val="6A4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959352"/>
            <a:ext cx="4846320" cy="347472"/>
          </a:xfrm>
          <a:prstGeom prst="rect">
            <a:avLst/>
          </a:prstGeom>
          <a:noFill/>
        </p:spPr>
        <p:txBody>
          <a:bodyPr wrap="square">
            <a:spAutoFit/>
          </a:bodyPr>
          <a:lstStyle/>
          <a:p>
            <a:pPr algn="l"/>
            <a:r>
              <a:rPr sz="1500" b="1" i="0">
                <a:solidFill>
                  <a:srgbClr val="6A40C4"/>
                </a:solidFill>
              </a:rPr>
              <a:t>Manual Response Only</a:t>
            </a:r>
          </a:p>
        </p:txBody>
      </p:sp>
      <p:sp>
        <p:nvSpPr>
          <p:cNvPr id="16" name="TextBox 15"/>
          <p:cNvSpPr txBox="1"/>
          <p:nvPr/>
        </p:nvSpPr>
        <p:spPr>
          <a:xfrm>
            <a:off x="594360" y="4343400"/>
            <a:ext cx="4846320" cy="502920"/>
          </a:xfrm>
          <a:prstGeom prst="rect">
            <a:avLst/>
          </a:prstGeom>
          <a:noFill/>
        </p:spPr>
        <p:txBody>
          <a:bodyPr wrap="square">
            <a:spAutoFit/>
          </a:bodyPr>
          <a:lstStyle/>
          <a:p>
            <a:pPr algn="l"/>
            <a:r>
              <a:rPr sz="1200" b="0" i="0">
                <a:solidFill>
                  <a:srgbClr val="55657A"/>
                </a:solidFill>
              </a:rPr>
              <a:t>Human intervention is required to change strategy mid-session</a:t>
            </a:r>
          </a:p>
        </p:txBody>
      </p:sp>
      <p:sp>
        <p:nvSpPr>
          <p:cNvPr id="17" name="Rectangle 16"/>
          <p:cNvSpPr/>
          <p:nvPr/>
        </p:nvSpPr>
        <p:spPr>
          <a:xfrm>
            <a:off x="6217920" y="960120"/>
            <a:ext cx="5577840" cy="534924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960120"/>
            <a:ext cx="5577840" cy="64008"/>
          </a:xfrm>
          <a:prstGeom prst="rect">
            <a:avLst/>
          </a:prstGeom>
          <a:solidFill>
            <a:srgbClr val="008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1115568"/>
            <a:ext cx="5029200" cy="438912"/>
          </a:xfrm>
          <a:prstGeom prst="rect">
            <a:avLst/>
          </a:prstGeom>
          <a:noFill/>
        </p:spPr>
        <p:txBody>
          <a:bodyPr wrap="square">
            <a:spAutoFit/>
          </a:bodyPr>
          <a:lstStyle/>
          <a:p>
            <a:pPr algn="l"/>
            <a:r>
              <a:rPr sz="2000" b="1" i="0">
                <a:solidFill>
                  <a:srgbClr val="0087A8"/>
                </a:solidFill>
              </a:rPr>
              <a:t>Our Goal</a:t>
            </a:r>
          </a:p>
        </p:txBody>
      </p:sp>
      <p:sp>
        <p:nvSpPr>
          <p:cNvPr id="20" name="TextBox 19"/>
          <p:cNvSpPr txBox="1"/>
          <p:nvPr/>
        </p:nvSpPr>
        <p:spPr>
          <a:xfrm>
            <a:off x="6400800" y="1645920"/>
            <a:ext cx="5120640" cy="4114800"/>
          </a:xfrm>
          <a:prstGeom prst="rect">
            <a:avLst/>
          </a:prstGeom>
          <a:noFill/>
        </p:spPr>
        <p:txBody>
          <a:bodyPr wrap="square">
            <a:spAutoFit/>
          </a:bodyPr>
          <a:lstStyle/>
          <a:p>
            <a:pPr>
              <a:spcBef>
                <a:spcPts val="300"/>
              </a:spcBef>
            </a:pPr>
            <a:r>
              <a:rPr sz="1300">
                <a:solidFill>
                  <a:srgbClr val="55657A"/>
                </a:solidFill>
              </a:rPr>
              <a:t>▸  Simulate realistic attacker behavior across 6 threat phases</a:t>
            </a:r>
          </a:p>
          <a:p>
            <a:pPr>
              <a:spcBef>
                <a:spcPts val="300"/>
              </a:spcBef>
            </a:pPr>
            <a:r>
              <a:rPr sz="1300">
                <a:solidFill>
                  <a:srgbClr val="55657A"/>
                </a:solidFill>
              </a:rPr>
              <a:t>▸  Deploy an autonomous agent that reacts in real time</a:t>
            </a:r>
          </a:p>
          <a:p>
            <a:pPr>
              <a:spcBef>
                <a:spcPts val="300"/>
              </a:spcBef>
            </a:pPr>
            <a:r>
              <a:rPr sz="1300">
                <a:solidFill>
                  <a:srgbClr val="55657A"/>
                </a:solidFill>
              </a:rPr>
              <a:t>▸  Use Gemini AI for intelligent, context-aware decisions</a:t>
            </a:r>
          </a:p>
          <a:p>
            <a:pPr>
              <a:spcBef>
                <a:spcPts val="300"/>
              </a:spcBef>
            </a:pPr>
            <a:r>
              <a:rPr sz="1300">
                <a:solidFill>
                  <a:srgbClr val="55657A"/>
                </a:solidFill>
              </a:rPr>
              <a:t>▸  Fall back to rule-based logic when AI is unavailable</a:t>
            </a:r>
          </a:p>
          <a:p>
            <a:pPr>
              <a:spcBef>
                <a:spcPts val="300"/>
              </a:spcBef>
            </a:pPr>
            <a:r>
              <a:rPr sz="1300">
                <a:solidFill>
                  <a:srgbClr val="55657A"/>
                </a:solidFill>
              </a:rPr>
              <a:t>▸  Track memory, deception artifacts, and scoring over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29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144000" cy="411480"/>
          </a:xfrm>
          <a:prstGeom prst="rect">
            <a:avLst/>
          </a:prstGeom>
          <a:noFill/>
        </p:spPr>
        <p:txBody>
          <a:bodyPr wrap="square">
            <a:spAutoFit/>
          </a:bodyPr>
          <a:lstStyle/>
          <a:p>
            <a:pPr algn="l"/>
            <a:r>
              <a:rPr sz="2200" b="1" i="0">
                <a:solidFill>
                  <a:srgbClr val="FFFFFF"/>
                </a:solidFill>
              </a:rPr>
              <a:t>System Architecture</a:t>
            </a:r>
          </a:p>
        </p:txBody>
      </p:sp>
      <p:sp>
        <p:nvSpPr>
          <p:cNvPr id="4" name="TextBox 3"/>
          <p:cNvSpPr txBox="1"/>
          <p:nvPr/>
        </p:nvSpPr>
        <p:spPr>
          <a:xfrm>
            <a:off x="411480" y="594360"/>
            <a:ext cx="8229600" cy="347472"/>
          </a:xfrm>
          <a:prstGeom prst="rect">
            <a:avLst/>
          </a:prstGeom>
          <a:noFill/>
        </p:spPr>
        <p:txBody>
          <a:bodyPr wrap="square">
            <a:spAutoFit/>
          </a:bodyPr>
          <a:lstStyle/>
          <a:p>
            <a:pPr algn="l"/>
            <a:r>
              <a:rPr sz="1400" b="0" i="1">
                <a:solidFill>
                  <a:srgbClr val="55657A"/>
                </a:solidFill>
              </a:rPr>
              <a:t>Three-layer design: Simulation → Agent → Dashboard</a:t>
            </a:r>
          </a:p>
        </p:txBody>
      </p:sp>
      <p:sp>
        <p:nvSpPr>
          <p:cNvPr id="5" name="Rectangle 4"/>
          <p:cNvSpPr/>
          <p:nvPr/>
        </p:nvSpPr>
        <p:spPr>
          <a:xfrm>
            <a:off x="365760" y="1051560"/>
            <a:ext cx="3657600" cy="52578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51560"/>
            <a:ext cx="3657600" cy="64008"/>
          </a:xfrm>
          <a:prstGeom prst="rect">
            <a:avLst/>
          </a:prstGeom>
          <a:solidFill>
            <a:srgbClr val="008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3383280" cy="411480"/>
          </a:xfrm>
          <a:prstGeom prst="rect">
            <a:avLst/>
          </a:prstGeom>
          <a:noFill/>
        </p:spPr>
        <p:txBody>
          <a:bodyPr wrap="square">
            <a:spAutoFit/>
          </a:bodyPr>
          <a:lstStyle/>
          <a:p>
            <a:pPr algn="l"/>
            <a:r>
              <a:rPr sz="1500" b="1" i="0">
                <a:solidFill>
                  <a:srgbClr val="0087A8"/>
                </a:solidFill>
              </a:rPr>
              <a:t>🛡️  SimulatedHoneypot</a:t>
            </a:r>
          </a:p>
        </p:txBody>
      </p:sp>
      <p:sp>
        <p:nvSpPr>
          <p:cNvPr id="8" name="TextBox 7"/>
          <p:cNvSpPr txBox="1"/>
          <p:nvPr/>
        </p:nvSpPr>
        <p:spPr>
          <a:xfrm>
            <a:off x="548640" y="1664208"/>
            <a:ext cx="3383280" cy="347472"/>
          </a:xfrm>
          <a:prstGeom prst="rect">
            <a:avLst/>
          </a:prstGeom>
          <a:noFill/>
        </p:spPr>
        <p:txBody>
          <a:bodyPr wrap="square">
            <a:spAutoFit/>
          </a:bodyPr>
          <a:lstStyle/>
          <a:p>
            <a:pPr algn="l"/>
            <a:r>
              <a:rPr sz="1100" b="0" i="1">
                <a:solidFill>
                  <a:srgbClr val="A0AFBF"/>
                </a:solidFill>
              </a:rPr>
              <a:t>Core simulation engine</a:t>
            </a:r>
          </a:p>
        </p:txBody>
      </p:sp>
      <p:sp>
        <p:nvSpPr>
          <p:cNvPr id="9" name="TextBox 8"/>
          <p:cNvSpPr txBox="1"/>
          <p:nvPr/>
        </p:nvSpPr>
        <p:spPr>
          <a:xfrm>
            <a:off x="548640" y="2084831"/>
            <a:ext cx="3383280" cy="3931920"/>
          </a:xfrm>
          <a:prstGeom prst="rect">
            <a:avLst/>
          </a:prstGeom>
          <a:noFill/>
        </p:spPr>
        <p:txBody>
          <a:bodyPr wrap="square">
            <a:spAutoFit/>
          </a:bodyPr>
          <a:lstStyle/>
          <a:p>
            <a:pPr>
              <a:spcBef>
                <a:spcPts val="300"/>
              </a:spcBef>
            </a:pPr>
            <a:r>
              <a:rPr sz="1200">
                <a:solidFill>
                  <a:srgbClr val="55657A"/>
                </a:solidFill>
              </a:rPr>
              <a:t>▸  Manages attacker state machines</a:t>
            </a:r>
          </a:p>
          <a:p>
            <a:pPr>
              <a:spcBef>
                <a:spcPts val="300"/>
              </a:spcBef>
            </a:pPr>
            <a:r>
              <a:rPr sz="1200">
                <a:solidFill>
                  <a:srgbClr val="55657A"/>
                </a:solidFill>
              </a:rPr>
              <a:t>▸  Tracks 6 attack phase transitions</a:t>
            </a:r>
          </a:p>
          <a:p>
            <a:pPr>
              <a:spcBef>
                <a:spcPts val="300"/>
              </a:spcBef>
            </a:pPr>
            <a:r>
              <a:rPr sz="1200">
                <a:solidFill>
                  <a:srgbClr val="55657A"/>
                </a:solidFill>
              </a:rPr>
              <a:t>▸  Deploys deception artifacts</a:t>
            </a:r>
          </a:p>
          <a:p>
            <a:pPr>
              <a:spcBef>
                <a:spcPts val="300"/>
              </a:spcBef>
            </a:pPr>
            <a:r>
              <a:rPr sz="1200">
                <a:solidFill>
                  <a:srgbClr val="55657A"/>
                </a:solidFill>
              </a:rPr>
              <a:t>▸  Calculates risk &amp; engagement scores</a:t>
            </a:r>
          </a:p>
        </p:txBody>
      </p:sp>
      <p:sp>
        <p:nvSpPr>
          <p:cNvPr id="10" name="Rectangle 9"/>
          <p:cNvSpPr/>
          <p:nvPr/>
        </p:nvSpPr>
        <p:spPr>
          <a:xfrm>
            <a:off x="4279392" y="1051560"/>
            <a:ext cx="3657600" cy="52578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79392" y="1051560"/>
            <a:ext cx="3657600" cy="64008"/>
          </a:xfrm>
          <a:prstGeom prst="rect">
            <a:avLst/>
          </a:prstGeom>
          <a:solidFill>
            <a:srgbClr val="D48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2272" y="1234440"/>
            <a:ext cx="3383280" cy="411480"/>
          </a:xfrm>
          <a:prstGeom prst="rect">
            <a:avLst/>
          </a:prstGeom>
          <a:noFill/>
        </p:spPr>
        <p:txBody>
          <a:bodyPr wrap="square">
            <a:spAutoFit/>
          </a:bodyPr>
          <a:lstStyle/>
          <a:p>
            <a:pPr algn="l"/>
            <a:r>
              <a:rPr sz="1500" b="1" i="0">
                <a:solidFill>
                  <a:srgbClr val="D48E00"/>
                </a:solidFill>
              </a:rPr>
              <a:t>🤖  HoneypotAgent</a:t>
            </a:r>
          </a:p>
        </p:txBody>
      </p:sp>
      <p:sp>
        <p:nvSpPr>
          <p:cNvPr id="13" name="TextBox 12"/>
          <p:cNvSpPr txBox="1"/>
          <p:nvPr/>
        </p:nvSpPr>
        <p:spPr>
          <a:xfrm>
            <a:off x="4462272" y="1664208"/>
            <a:ext cx="3383280" cy="347472"/>
          </a:xfrm>
          <a:prstGeom prst="rect">
            <a:avLst/>
          </a:prstGeom>
          <a:noFill/>
        </p:spPr>
        <p:txBody>
          <a:bodyPr wrap="square">
            <a:spAutoFit/>
          </a:bodyPr>
          <a:lstStyle/>
          <a:p>
            <a:pPr algn="l"/>
            <a:r>
              <a:rPr sz="1100" b="0" i="1">
                <a:solidFill>
                  <a:srgbClr val="A0AFBF"/>
                </a:solidFill>
              </a:rPr>
              <a:t>Autonomous decision maker</a:t>
            </a:r>
          </a:p>
        </p:txBody>
      </p:sp>
      <p:sp>
        <p:nvSpPr>
          <p:cNvPr id="14" name="TextBox 13"/>
          <p:cNvSpPr txBox="1"/>
          <p:nvPr/>
        </p:nvSpPr>
        <p:spPr>
          <a:xfrm>
            <a:off x="4462272" y="2084831"/>
            <a:ext cx="3383280" cy="3931920"/>
          </a:xfrm>
          <a:prstGeom prst="rect">
            <a:avLst/>
          </a:prstGeom>
          <a:noFill/>
        </p:spPr>
        <p:txBody>
          <a:bodyPr wrap="square">
            <a:spAutoFit/>
          </a:bodyPr>
          <a:lstStyle/>
          <a:p>
            <a:pPr>
              <a:spcBef>
                <a:spcPts val="300"/>
              </a:spcBef>
            </a:pPr>
            <a:r>
              <a:rPr sz="1200">
                <a:solidFill>
                  <a:srgbClr val="55657A"/>
                </a:solidFill>
              </a:rPr>
              <a:t>▸  Reads honeypot status each cycle</a:t>
            </a:r>
          </a:p>
          <a:p>
            <a:pPr>
              <a:spcBef>
                <a:spcPts val="300"/>
              </a:spcBef>
            </a:pPr>
            <a:r>
              <a:rPr sz="1200">
                <a:solidFill>
                  <a:srgbClr val="55657A"/>
                </a:solidFill>
              </a:rPr>
              <a:t>▸  Queries Gemini API with full context</a:t>
            </a:r>
          </a:p>
          <a:p>
            <a:pPr>
              <a:spcBef>
                <a:spcPts val="300"/>
              </a:spcBef>
            </a:pPr>
            <a:r>
              <a:rPr sz="1200">
                <a:solidFill>
                  <a:srgbClr val="55657A"/>
                </a:solidFill>
              </a:rPr>
              <a:t>▸  Falls back to rule-based logic</a:t>
            </a:r>
          </a:p>
          <a:p>
            <a:pPr>
              <a:spcBef>
                <a:spcPts val="300"/>
              </a:spcBef>
            </a:pPr>
            <a:r>
              <a:rPr sz="1200">
                <a:solidFill>
                  <a:srgbClr val="55657A"/>
                </a:solidFill>
              </a:rPr>
              <a:t>▸  Maintains AgentMemory (deque, 100)</a:t>
            </a:r>
          </a:p>
        </p:txBody>
      </p:sp>
      <p:sp>
        <p:nvSpPr>
          <p:cNvPr id="15" name="Rectangle 14"/>
          <p:cNvSpPr/>
          <p:nvPr/>
        </p:nvSpPr>
        <p:spPr>
          <a:xfrm>
            <a:off x="8193024" y="1051560"/>
            <a:ext cx="3657600" cy="52578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93024" y="1051560"/>
            <a:ext cx="3657600" cy="64008"/>
          </a:xfrm>
          <a:prstGeom prst="rect">
            <a:avLst/>
          </a:prstGeom>
          <a:solidFill>
            <a:srgbClr val="1A7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4" y="1234440"/>
            <a:ext cx="3383280" cy="411480"/>
          </a:xfrm>
          <a:prstGeom prst="rect">
            <a:avLst/>
          </a:prstGeom>
          <a:noFill/>
        </p:spPr>
        <p:txBody>
          <a:bodyPr wrap="square">
            <a:spAutoFit/>
          </a:bodyPr>
          <a:lstStyle/>
          <a:p>
            <a:pPr algn="l"/>
            <a:r>
              <a:rPr sz="1500" b="1" i="0">
                <a:solidFill>
                  <a:srgbClr val="1A7A50"/>
                </a:solidFill>
              </a:rPr>
              <a:t>📊  Streamlit Dashboard</a:t>
            </a:r>
          </a:p>
        </p:txBody>
      </p:sp>
      <p:sp>
        <p:nvSpPr>
          <p:cNvPr id="18" name="TextBox 17"/>
          <p:cNvSpPr txBox="1"/>
          <p:nvPr/>
        </p:nvSpPr>
        <p:spPr>
          <a:xfrm>
            <a:off x="8375904" y="1664208"/>
            <a:ext cx="3383280" cy="347472"/>
          </a:xfrm>
          <a:prstGeom prst="rect">
            <a:avLst/>
          </a:prstGeom>
          <a:noFill/>
        </p:spPr>
        <p:txBody>
          <a:bodyPr wrap="square">
            <a:spAutoFit/>
          </a:bodyPr>
          <a:lstStyle/>
          <a:p>
            <a:pPr algn="l"/>
            <a:r>
              <a:rPr sz="1100" b="0" i="1">
                <a:solidFill>
                  <a:srgbClr val="A0AFBF"/>
                </a:solidFill>
              </a:rPr>
              <a:t>Real-time visualization</a:t>
            </a:r>
          </a:p>
        </p:txBody>
      </p:sp>
      <p:sp>
        <p:nvSpPr>
          <p:cNvPr id="19" name="TextBox 18"/>
          <p:cNvSpPr txBox="1"/>
          <p:nvPr/>
        </p:nvSpPr>
        <p:spPr>
          <a:xfrm>
            <a:off x="8375904" y="2084831"/>
            <a:ext cx="3383280" cy="3931920"/>
          </a:xfrm>
          <a:prstGeom prst="rect">
            <a:avLst/>
          </a:prstGeom>
          <a:noFill/>
        </p:spPr>
        <p:txBody>
          <a:bodyPr wrap="square">
            <a:spAutoFit/>
          </a:bodyPr>
          <a:lstStyle/>
          <a:p>
            <a:pPr>
              <a:spcBef>
                <a:spcPts val="300"/>
              </a:spcBef>
            </a:pPr>
            <a:r>
              <a:rPr sz="1200">
                <a:solidFill>
                  <a:srgbClr val="55657A"/>
                </a:solidFill>
              </a:rPr>
              <a:t>▸  Live phase pie chart &amp; score trends</a:t>
            </a:r>
          </a:p>
          <a:p>
            <a:pPr>
              <a:spcBef>
                <a:spcPts val="300"/>
              </a:spcBef>
            </a:pPr>
            <a:r>
              <a:rPr sz="1200">
                <a:solidFill>
                  <a:srgbClr val="55657A"/>
                </a:solidFill>
              </a:rPr>
              <a:t>▸  Attacker cards with risk indicators</a:t>
            </a:r>
          </a:p>
          <a:p>
            <a:pPr>
              <a:spcBef>
                <a:spcPts val="300"/>
              </a:spcBef>
            </a:pPr>
            <a:r>
              <a:rPr sz="1200">
                <a:solidFill>
                  <a:srgbClr val="55657A"/>
                </a:solidFill>
              </a:rPr>
              <a:t>▸  Cycle trace &amp; memory inspection</a:t>
            </a:r>
          </a:p>
          <a:p>
            <a:pPr>
              <a:spcBef>
                <a:spcPts val="300"/>
              </a:spcBef>
            </a:pPr>
            <a:r>
              <a:rPr sz="1200">
                <a:solidFill>
                  <a:srgbClr val="55657A"/>
                </a:solidFill>
              </a:rPr>
              <a:t>▸  Export JSON trace &amp; status</a:t>
            </a:r>
          </a:p>
        </p:txBody>
      </p:sp>
      <p:sp>
        <p:nvSpPr>
          <p:cNvPr id="20" name="TextBox 19"/>
          <p:cNvSpPr txBox="1"/>
          <p:nvPr/>
        </p:nvSpPr>
        <p:spPr>
          <a:xfrm>
            <a:off x="4023360" y="3337560"/>
            <a:ext cx="457200" cy="548640"/>
          </a:xfrm>
          <a:prstGeom prst="rect">
            <a:avLst/>
          </a:prstGeom>
          <a:noFill/>
        </p:spPr>
        <p:txBody>
          <a:bodyPr wrap="square">
            <a:spAutoFit/>
          </a:bodyPr>
          <a:lstStyle/>
          <a:p>
            <a:pPr algn="ctr"/>
            <a:r>
              <a:rPr sz="2600" b="1" i="0">
                <a:solidFill>
                  <a:srgbClr val="0087A8"/>
                </a:solidFill>
              </a:rPr>
              <a:t>→</a:t>
            </a:r>
          </a:p>
        </p:txBody>
      </p:sp>
      <p:sp>
        <p:nvSpPr>
          <p:cNvPr id="21" name="TextBox 20"/>
          <p:cNvSpPr txBox="1"/>
          <p:nvPr/>
        </p:nvSpPr>
        <p:spPr>
          <a:xfrm>
            <a:off x="7936992" y="3337560"/>
            <a:ext cx="457200" cy="548640"/>
          </a:xfrm>
          <a:prstGeom prst="rect">
            <a:avLst/>
          </a:prstGeom>
          <a:noFill/>
        </p:spPr>
        <p:txBody>
          <a:bodyPr wrap="square">
            <a:spAutoFit/>
          </a:bodyPr>
          <a:lstStyle/>
          <a:p>
            <a:pPr algn="ctr"/>
            <a:r>
              <a:rPr sz="2600" b="1" i="0">
                <a:solidFill>
                  <a:srgbClr val="0087A8"/>
                </a:solidFill>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29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8229600" cy="411480"/>
          </a:xfrm>
          <a:prstGeom prst="rect">
            <a:avLst/>
          </a:prstGeom>
          <a:noFill/>
        </p:spPr>
        <p:txBody>
          <a:bodyPr wrap="square">
            <a:spAutoFit/>
          </a:bodyPr>
          <a:lstStyle/>
          <a:p>
            <a:pPr algn="l"/>
            <a:r>
              <a:rPr sz="2200" b="1" i="0">
                <a:solidFill>
                  <a:srgbClr val="FFFFFF"/>
                </a:solidFill>
              </a:rPr>
              <a:t>Architecture Diagram</a:t>
            </a:r>
          </a:p>
        </p:txBody>
      </p:sp>
      <p:sp>
        <p:nvSpPr>
          <p:cNvPr id="4" name="TextBox 3"/>
          <p:cNvSpPr txBox="1"/>
          <p:nvPr/>
        </p:nvSpPr>
        <p:spPr>
          <a:xfrm>
            <a:off x="8686800" y="137160"/>
            <a:ext cx="3108960" cy="320040"/>
          </a:xfrm>
          <a:prstGeom prst="rect">
            <a:avLst/>
          </a:prstGeom>
          <a:noFill/>
        </p:spPr>
        <p:txBody>
          <a:bodyPr wrap="square">
            <a:spAutoFit/>
          </a:bodyPr>
          <a:lstStyle/>
          <a:p>
            <a:pPr algn="r"/>
            <a:r>
              <a:rPr sz="1100" b="0" i="1">
                <a:solidFill>
                  <a:srgbClr val="0087A8"/>
                </a:solidFill>
              </a:rPr>
              <a:t>✅ Verified against source code</a:t>
            </a:r>
          </a:p>
        </p:txBody>
      </p:sp>
      <p:sp>
        <p:nvSpPr>
          <p:cNvPr id="5" name="TextBox 4"/>
          <p:cNvSpPr txBox="1"/>
          <p:nvPr/>
        </p:nvSpPr>
        <p:spPr>
          <a:xfrm>
            <a:off x="411480" y="594360"/>
            <a:ext cx="10972800" cy="347472"/>
          </a:xfrm>
          <a:prstGeom prst="rect">
            <a:avLst/>
          </a:prstGeom>
          <a:noFill/>
        </p:spPr>
        <p:txBody>
          <a:bodyPr wrap="square">
            <a:spAutoFit/>
          </a:bodyPr>
          <a:lstStyle/>
          <a:p>
            <a:pPr algn="l"/>
            <a:r>
              <a:rPr sz="1300" b="0" i="1">
                <a:solidFill>
                  <a:srgbClr val="55657A"/>
                </a:solidFill>
              </a:rPr>
              <a:t>Simulated honeypot with an agent loop: Observe → Decide → Act → Evaluate</a:t>
            </a:r>
          </a:p>
        </p:txBody>
      </p:sp>
      <p:pic>
        <p:nvPicPr>
          <p:cNvPr id="6" name="Picture 5" descr="arch_diagram.png"/>
          <p:cNvPicPr>
            <a:picLocks noChangeAspect="1"/>
          </p:cNvPicPr>
          <p:nvPr/>
        </p:nvPicPr>
        <p:blipFill>
          <a:blip r:embed="rId2"/>
          <a:stretch>
            <a:fillRect/>
          </a:stretch>
        </p:blipFill>
        <p:spPr>
          <a:xfrm>
            <a:off x="4296156" y="1051560"/>
            <a:ext cx="3596640" cy="5394960"/>
          </a:xfrm>
          <a:prstGeom prst="rect">
            <a:avLst/>
          </a:prstGeom>
        </p:spPr>
      </p:pic>
      <p:sp>
        <p:nvSpPr>
          <p:cNvPr id="7" name="Rectangle 6"/>
          <p:cNvSpPr/>
          <p:nvPr/>
        </p:nvSpPr>
        <p:spPr>
          <a:xfrm>
            <a:off x="4296156" y="1051560"/>
            <a:ext cx="3596640" cy="5394960"/>
          </a:xfrm>
          <a:prstGeom prst="rect">
            <a:avLst/>
          </a:prstGeom>
          <a:noFill/>
          <a:ln w="19050">
            <a:solidFill>
              <a:srgbClr val="0087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51560"/>
            <a:ext cx="3793236" cy="539496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051560"/>
            <a:ext cx="3793236" cy="64008"/>
          </a:xfrm>
          <a:prstGeom prst="rect">
            <a:avLst/>
          </a:prstGeom>
          <a:solidFill>
            <a:srgbClr val="008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79" y="1207008"/>
            <a:ext cx="3610356" cy="365760"/>
          </a:xfrm>
          <a:prstGeom prst="rect">
            <a:avLst/>
          </a:prstGeom>
          <a:noFill/>
        </p:spPr>
        <p:txBody>
          <a:bodyPr wrap="square">
            <a:spAutoFit/>
          </a:bodyPr>
          <a:lstStyle/>
          <a:p>
            <a:pPr algn="l"/>
            <a:r>
              <a:rPr sz="1300" b="1" i="0">
                <a:solidFill>
                  <a:srgbClr val="0087A8"/>
                </a:solidFill>
              </a:rPr>
              <a:t>Key Components</a:t>
            </a:r>
          </a:p>
        </p:txBody>
      </p:sp>
      <p:sp>
        <p:nvSpPr>
          <p:cNvPr id="11" name="TextBox 10"/>
          <p:cNvSpPr txBox="1"/>
          <p:nvPr/>
        </p:nvSpPr>
        <p:spPr>
          <a:xfrm>
            <a:off x="411479" y="1691640"/>
            <a:ext cx="3610356" cy="310896"/>
          </a:xfrm>
          <a:prstGeom prst="rect">
            <a:avLst/>
          </a:prstGeom>
          <a:noFill/>
        </p:spPr>
        <p:txBody>
          <a:bodyPr wrap="square">
            <a:spAutoFit/>
          </a:bodyPr>
          <a:lstStyle/>
          <a:p>
            <a:pPr algn="l"/>
            <a:r>
              <a:rPr sz="1000" b="1" i="0">
                <a:solidFill>
                  <a:srgbClr val="1A2F5E"/>
                </a:solidFill>
              </a:rPr>
              <a:t>🛡️ SimulatedHoneypot</a:t>
            </a:r>
          </a:p>
        </p:txBody>
      </p:sp>
      <p:sp>
        <p:nvSpPr>
          <p:cNvPr id="12" name="TextBox 11"/>
          <p:cNvSpPr txBox="1"/>
          <p:nvPr/>
        </p:nvSpPr>
        <p:spPr>
          <a:xfrm>
            <a:off x="411479" y="2002536"/>
            <a:ext cx="3610356" cy="402336"/>
          </a:xfrm>
          <a:prstGeom prst="rect">
            <a:avLst/>
          </a:prstGeom>
          <a:noFill/>
        </p:spPr>
        <p:txBody>
          <a:bodyPr wrap="square">
            <a:spAutoFit/>
          </a:bodyPr>
          <a:lstStyle/>
          <a:p>
            <a:pPr algn="l"/>
            <a:r>
              <a:rPr sz="900" b="0" i="0">
                <a:solidFill>
                  <a:srgbClr val="55657A"/>
                </a:solidFill>
              </a:rPr>
              <a:t>Manages attackers, config, artifacts, scoring</a:t>
            </a:r>
          </a:p>
        </p:txBody>
      </p:sp>
      <p:sp>
        <p:nvSpPr>
          <p:cNvPr id="13" name="TextBox 12"/>
          <p:cNvSpPr txBox="1"/>
          <p:nvPr/>
        </p:nvSpPr>
        <p:spPr>
          <a:xfrm>
            <a:off x="411479" y="2459736"/>
            <a:ext cx="3610356" cy="310896"/>
          </a:xfrm>
          <a:prstGeom prst="rect">
            <a:avLst/>
          </a:prstGeom>
          <a:noFill/>
        </p:spPr>
        <p:txBody>
          <a:bodyPr wrap="square">
            <a:spAutoFit/>
          </a:bodyPr>
          <a:lstStyle/>
          <a:p>
            <a:pPr algn="l"/>
            <a:r>
              <a:rPr sz="1000" b="1" i="0">
                <a:solidFill>
                  <a:srgbClr val="1A2F5E"/>
                </a:solidFill>
              </a:rPr>
              <a:t>🤖 HoneypotAgent</a:t>
            </a:r>
          </a:p>
        </p:txBody>
      </p:sp>
      <p:sp>
        <p:nvSpPr>
          <p:cNvPr id="14" name="TextBox 13"/>
          <p:cNvSpPr txBox="1"/>
          <p:nvPr/>
        </p:nvSpPr>
        <p:spPr>
          <a:xfrm>
            <a:off x="411479" y="2770632"/>
            <a:ext cx="3610356" cy="402336"/>
          </a:xfrm>
          <a:prstGeom prst="rect">
            <a:avLst/>
          </a:prstGeom>
          <a:noFill/>
        </p:spPr>
        <p:txBody>
          <a:bodyPr wrap="square">
            <a:spAutoFit/>
          </a:bodyPr>
          <a:lstStyle/>
          <a:p>
            <a:pPr algn="l"/>
            <a:r>
              <a:rPr sz="900" b="0" i="0">
                <a:solidFill>
                  <a:srgbClr val="55657A"/>
                </a:solidFill>
              </a:rPr>
              <a:t>Gemini API + rule-based fallback per cycle</a:t>
            </a:r>
          </a:p>
        </p:txBody>
      </p:sp>
      <p:sp>
        <p:nvSpPr>
          <p:cNvPr id="15" name="TextBox 14"/>
          <p:cNvSpPr txBox="1"/>
          <p:nvPr/>
        </p:nvSpPr>
        <p:spPr>
          <a:xfrm>
            <a:off x="411479" y="3227832"/>
            <a:ext cx="3610356" cy="310896"/>
          </a:xfrm>
          <a:prstGeom prst="rect">
            <a:avLst/>
          </a:prstGeom>
          <a:noFill/>
        </p:spPr>
        <p:txBody>
          <a:bodyPr wrap="square">
            <a:spAutoFit/>
          </a:bodyPr>
          <a:lstStyle/>
          <a:p>
            <a:pPr algn="l"/>
            <a:r>
              <a:rPr sz="1000" b="1" i="0">
                <a:solidFill>
                  <a:srgbClr val="1A2F5E"/>
                </a:solidFill>
              </a:rPr>
              <a:t>🧠 AgentMemory</a:t>
            </a:r>
          </a:p>
        </p:txBody>
      </p:sp>
      <p:sp>
        <p:nvSpPr>
          <p:cNvPr id="16" name="TextBox 15"/>
          <p:cNvSpPr txBox="1"/>
          <p:nvPr/>
        </p:nvSpPr>
        <p:spPr>
          <a:xfrm>
            <a:off x="411479" y="3538728"/>
            <a:ext cx="3610356" cy="402336"/>
          </a:xfrm>
          <a:prstGeom prst="rect">
            <a:avLst/>
          </a:prstGeom>
          <a:noFill/>
        </p:spPr>
        <p:txBody>
          <a:bodyPr wrap="square">
            <a:spAutoFit/>
          </a:bodyPr>
          <a:lstStyle/>
          <a:p>
            <a:pPr algn="l"/>
            <a:r>
              <a:rPr sz="900" b="0" i="0">
                <a:solidFill>
                  <a:srgbClr val="55657A"/>
                </a:solidFill>
              </a:rPr>
              <a:t>100-exp deque; tracks avoidance logic</a:t>
            </a:r>
          </a:p>
        </p:txBody>
      </p:sp>
      <p:sp>
        <p:nvSpPr>
          <p:cNvPr id="17" name="TextBox 16"/>
          <p:cNvSpPr txBox="1"/>
          <p:nvPr/>
        </p:nvSpPr>
        <p:spPr>
          <a:xfrm>
            <a:off x="411479" y="3995928"/>
            <a:ext cx="3610356" cy="310896"/>
          </a:xfrm>
          <a:prstGeom prst="rect">
            <a:avLst/>
          </a:prstGeom>
          <a:noFill/>
        </p:spPr>
        <p:txBody>
          <a:bodyPr wrap="square">
            <a:spAutoFit/>
          </a:bodyPr>
          <a:lstStyle/>
          <a:p>
            <a:pPr algn="l"/>
            <a:r>
              <a:rPr sz="1000" b="1" i="0">
                <a:solidFill>
                  <a:srgbClr val="1A2F5E"/>
                </a:solidFill>
              </a:rPr>
              <a:t>📊 Streamlit UI</a:t>
            </a:r>
          </a:p>
        </p:txBody>
      </p:sp>
      <p:sp>
        <p:nvSpPr>
          <p:cNvPr id="18" name="TextBox 17"/>
          <p:cNvSpPr txBox="1"/>
          <p:nvPr/>
        </p:nvSpPr>
        <p:spPr>
          <a:xfrm>
            <a:off x="411479" y="4306824"/>
            <a:ext cx="3610356" cy="402336"/>
          </a:xfrm>
          <a:prstGeom prst="rect">
            <a:avLst/>
          </a:prstGeom>
          <a:noFill/>
        </p:spPr>
        <p:txBody>
          <a:bodyPr wrap="square">
            <a:spAutoFit/>
          </a:bodyPr>
          <a:lstStyle/>
          <a:p>
            <a:pPr algn="l"/>
            <a:r>
              <a:rPr sz="900" b="0" i="0">
                <a:solidFill>
                  <a:srgbClr val="55657A"/>
                </a:solidFill>
              </a:rPr>
              <a:t>5 tabs: Dashboard, Cycles, Memory, Deception, Export</a:t>
            </a:r>
          </a:p>
        </p:txBody>
      </p:sp>
      <p:sp>
        <p:nvSpPr>
          <p:cNvPr id="19" name="TextBox 18"/>
          <p:cNvSpPr txBox="1"/>
          <p:nvPr/>
        </p:nvSpPr>
        <p:spPr>
          <a:xfrm>
            <a:off x="411479" y="4764024"/>
            <a:ext cx="3610356" cy="310896"/>
          </a:xfrm>
          <a:prstGeom prst="rect">
            <a:avLst/>
          </a:prstGeom>
          <a:noFill/>
        </p:spPr>
        <p:txBody>
          <a:bodyPr wrap="square">
            <a:spAutoFit/>
          </a:bodyPr>
          <a:lstStyle/>
          <a:p>
            <a:pPr algn="l"/>
            <a:r>
              <a:rPr sz="1000" b="1" i="0">
                <a:solidFill>
                  <a:srgbClr val="1A2F5E"/>
                </a:solidFill>
              </a:rPr>
              <a:t>✨ Gemini API</a:t>
            </a:r>
          </a:p>
        </p:txBody>
      </p:sp>
      <p:sp>
        <p:nvSpPr>
          <p:cNvPr id="20" name="TextBox 19"/>
          <p:cNvSpPr txBox="1"/>
          <p:nvPr/>
        </p:nvSpPr>
        <p:spPr>
          <a:xfrm>
            <a:off x="411479" y="5074920"/>
            <a:ext cx="3610356" cy="402336"/>
          </a:xfrm>
          <a:prstGeom prst="rect">
            <a:avLst/>
          </a:prstGeom>
          <a:noFill/>
        </p:spPr>
        <p:txBody>
          <a:bodyPr wrap="square">
            <a:spAutoFit/>
          </a:bodyPr>
          <a:lstStyle/>
          <a:p>
            <a:pPr algn="l"/>
            <a:r>
              <a:rPr sz="900" b="0" i="0">
                <a:solidFill>
                  <a:srgbClr val="55657A"/>
                </a:solidFill>
              </a:rPr>
              <a:t>gemini-3.5-flash; optional, graceful fallback</a:t>
            </a:r>
          </a:p>
        </p:txBody>
      </p:sp>
      <p:sp>
        <p:nvSpPr>
          <p:cNvPr id="21" name="TextBox 20"/>
          <p:cNvSpPr txBox="1"/>
          <p:nvPr/>
        </p:nvSpPr>
        <p:spPr>
          <a:xfrm>
            <a:off x="411479" y="5532120"/>
            <a:ext cx="3610356" cy="310896"/>
          </a:xfrm>
          <a:prstGeom prst="rect">
            <a:avLst/>
          </a:prstGeom>
          <a:noFill/>
        </p:spPr>
        <p:txBody>
          <a:bodyPr wrap="square">
            <a:spAutoFit/>
          </a:bodyPr>
          <a:lstStyle/>
          <a:p>
            <a:pPr algn="l"/>
            <a:r>
              <a:rPr sz="1000" b="1" i="0">
                <a:solidFill>
                  <a:srgbClr val="1A2F5E"/>
                </a:solidFill>
              </a:rPr>
              <a:t>📁 Reporting</a:t>
            </a:r>
          </a:p>
        </p:txBody>
      </p:sp>
      <p:sp>
        <p:nvSpPr>
          <p:cNvPr id="22" name="TextBox 21"/>
          <p:cNvSpPr txBox="1"/>
          <p:nvPr/>
        </p:nvSpPr>
        <p:spPr>
          <a:xfrm>
            <a:off x="411479" y="5843016"/>
            <a:ext cx="3610356" cy="402336"/>
          </a:xfrm>
          <a:prstGeom prst="rect">
            <a:avLst/>
          </a:prstGeom>
          <a:noFill/>
        </p:spPr>
        <p:txBody>
          <a:bodyPr wrap="square">
            <a:spAutoFit/>
          </a:bodyPr>
          <a:lstStyle/>
          <a:p>
            <a:pPr algn="l"/>
            <a:r>
              <a:rPr sz="900" b="0" i="0">
                <a:solidFill>
                  <a:srgbClr val="55657A"/>
                </a:solidFill>
              </a:rPr>
              <a:t>.txt report + .json logs → reports/</a:t>
            </a:r>
          </a:p>
        </p:txBody>
      </p:sp>
      <p:sp>
        <p:nvSpPr>
          <p:cNvPr id="23" name="Rectangle 22"/>
          <p:cNvSpPr/>
          <p:nvPr/>
        </p:nvSpPr>
        <p:spPr>
          <a:xfrm>
            <a:off x="8121396" y="1051560"/>
            <a:ext cx="3793236" cy="539496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21396" y="1051560"/>
            <a:ext cx="3793236" cy="64008"/>
          </a:xfrm>
          <a:prstGeom prst="rect">
            <a:avLst/>
          </a:prstGeom>
          <a:solidFill>
            <a:srgbClr val="D48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58556" y="1207008"/>
            <a:ext cx="3610356" cy="365760"/>
          </a:xfrm>
          <a:prstGeom prst="rect">
            <a:avLst/>
          </a:prstGeom>
          <a:noFill/>
        </p:spPr>
        <p:txBody>
          <a:bodyPr wrap="square">
            <a:spAutoFit/>
          </a:bodyPr>
          <a:lstStyle/>
          <a:p>
            <a:pPr algn="l"/>
            <a:r>
              <a:rPr sz="1300" b="1" i="0">
                <a:solidFill>
                  <a:srgbClr val="D48E00"/>
                </a:solidFill>
              </a:rPr>
              <a:t>Data Flow</a:t>
            </a:r>
          </a:p>
        </p:txBody>
      </p:sp>
      <p:sp>
        <p:nvSpPr>
          <p:cNvPr id="26" name="TextBox 25"/>
          <p:cNvSpPr txBox="1"/>
          <p:nvPr/>
        </p:nvSpPr>
        <p:spPr>
          <a:xfrm>
            <a:off x="8258556" y="1691640"/>
            <a:ext cx="3610356" cy="310896"/>
          </a:xfrm>
          <a:prstGeom prst="rect">
            <a:avLst/>
          </a:prstGeom>
          <a:noFill/>
        </p:spPr>
        <p:txBody>
          <a:bodyPr wrap="square">
            <a:spAutoFit/>
          </a:bodyPr>
          <a:lstStyle/>
          <a:p>
            <a:pPr algn="l"/>
            <a:r>
              <a:rPr sz="1000" b="1" i="0">
                <a:solidFill>
                  <a:srgbClr val="1A2F5E"/>
                </a:solidFill>
              </a:rPr>
              <a:t>→  User Actions</a:t>
            </a:r>
          </a:p>
        </p:txBody>
      </p:sp>
      <p:sp>
        <p:nvSpPr>
          <p:cNvPr id="27" name="TextBox 26"/>
          <p:cNvSpPr txBox="1"/>
          <p:nvPr/>
        </p:nvSpPr>
        <p:spPr>
          <a:xfrm>
            <a:off x="8258556" y="2002536"/>
            <a:ext cx="3610356" cy="402336"/>
          </a:xfrm>
          <a:prstGeom prst="rect">
            <a:avLst/>
          </a:prstGeom>
          <a:noFill/>
        </p:spPr>
        <p:txBody>
          <a:bodyPr wrap="square">
            <a:spAutoFit/>
          </a:bodyPr>
          <a:lstStyle/>
          <a:p>
            <a:pPr algn="l"/>
            <a:r>
              <a:rPr sz="900" b="0" i="0">
                <a:solidFill>
                  <a:srgbClr val="55657A"/>
                </a:solidFill>
              </a:rPr>
              <a:t>Sidebar triggers run_cycle(), add_attacker()</a:t>
            </a:r>
          </a:p>
        </p:txBody>
      </p:sp>
      <p:sp>
        <p:nvSpPr>
          <p:cNvPr id="28" name="TextBox 27"/>
          <p:cNvSpPr txBox="1"/>
          <p:nvPr/>
        </p:nvSpPr>
        <p:spPr>
          <a:xfrm>
            <a:off x="8258556" y="2459736"/>
            <a:ext cx="3610356" cy="310896"/>
          </a:xfrm>
          <a:prstGeom prst="rect">
            <a:avLst/>
          </a:prstGeom>
          <a:noFill/>
        </p:spPr>
        <p:txBody>
          <a:bodyPr wrap="square">
            <a:spAutoFit/>
          </a:bodyPr>
          <a:lstStyle/>
          <a:p>
            <a:pPr algn="l"/>
            <a:r>
              <a:rPr sz="1000" b="1" i="0">
                <a:solidFill>
                  <a:srgbClr val="1A2F5E"/>
                </a:solidFill>
              </a:rPr>
              <a:t>- →  Observe</a:t>
            </a:r>
          </a:p>
        </p:txBody>
      </p:sp>
      <p:sp>
        <p:nvSpPr>
          <p:cNvPr id="29" name="TextBox 28"/>
          <p:cNvSpPr txBox="1"/>
          <p:nvPr/>
        </p:nvSpPr>
        <p:spPr>
          <a:xfrm>
            <a:off x="8258556" y="2770632"/>
            <a:ext cx="3610356" cy="402336"/>
          </a:xfrm>
          <a:prstGeom prst="rect">
            <a:avLst/>
          </a:prstGeom>
          <a:noFill/>
        </p:spPr>
        <p:txBody>
          <a:bodyPr wrap="square">
            <a:spAutoFit/>
          </a:bodyPr>
          <a:lstStyle/>
          <a:p>
            <a:pPr algn="l"/>
            <a:r>
              <a:rPr sz="900" b="0" i="0">
                <a:solidFill>
                  <a:srgbClr val="55657A"/>
                </a:solidFill>
              </a:rPr>
              <a:t>agent reads honeypot.status()</a:t>
            </a:r>
          </a:p>
        </p:txBody>
      </p:sp>
      <p:sp>
        <p:nvSpPr>
          <p:cNvPr id="30" name="TextBox 29"/>
          <p:cNvSpPr txBox="1"/>
          <p:nvPr/>
        </p:nvSpPr>
        <p:spPr>
          <a:xfrm>
            <a:off x="8258556" y="3227832"/>
            <a:ext cx="3610356" cy="310896"/>
          </a:xfrm>
          <a:prstGeom prst="rect">
            <a:avLst/>
          </a:prstGeom>
          <a:noFill/>
        </p:spPr>
        <p:txBody>
          <a:bodyPr wrap="square">
            <a:spAutoFit/>
          </a:bodyPr>
          <a:lstStyle/>
          <a:p>
            <a:pPr algn="l"/>
            <a:r>
              <a:rPr sz="1000" b="1" i="0">
                <a:solidFill>
                  <a:srgbClr val="1A2F5E"/>
                </a:solidFill>
              </a:rPr>
              <a:t>– →  Act</a:t>
            </a:r>
          </a:p>
        </p:txBody>
      </p:sp>
      <p:sp>
        <p:nvSpPr>
          <p:cNvPr id="31" name="TextBox 30"/>
          <p:cNvSpPr txBox="1"/>
          <p:nvPr/>
        </p:nvSpPr>
        <p:spPr>
          <a:xfrm>
            <a:off x="8258556" y="3538728"/>
            <a:ext cx="3610356" cy="402336"/>
          </a:xfrm>
          <a:prstGeom prst="rect">
            <a:avLst/>
          </a:prstGeom>
          <a:noFill/>
        </p:spPr>
        <p:txBody>
          <a:bodyPr wrap="square">
            <a:spAutoFit/>
          </a:bodyPr>
          <a:lstStyle/>
          <a:p>
            <a:pPr algn="l"/>
            <a:r>
              <a:rPr sz="900" b="0" i="0">
                <a:solidFill>
                  <a:srgbClr val="55657A"/>
                </a:solidFill>
              </a:rPr>
              <a:t>apply_action() mutates config</a:t>
            </a:r>
          </a:p>
        </p:txBody>
      </p:sp>
      <p:sp>
        <p:nvSpPr>
          <p:cNvPr id="32" name="TextBox 31"/>
          <p:cNvSpPr txBox="1"/>
          <p:nvPr/>
        </p:nvSpPr>
        <p:spPr>
          <a:xfrm>
            <a:off x="8258556" y="3995928"/>
            <a:ext cx="3610356" cy="310896"/>
          </a:xfrm>
          <a:prstGeom prst="rect">
            <a:avLst/>
          </a:prstGeom>
          <a:noFill/>
        </p:spPr>
        <p:txBody>
          <a:bodyPr wrap="square">
            <a:spAutoFit/>
          </a:bodyPr>
          <a:lstStyle/>
          <a:p>
            <a:pPr algn="l"/>
            <a:r>
              <a:rPr sz="1000" b="1" i="0">
                <a:solidFill>
                  <a:srgbClr val="1A2F5E"/>
                </a:solidFill>
              </a:rPr>
              <a:t>·· →  Env Updates</a:t>
            </a:r>
          </a:p>
        </p:txBody>
      </p:sp>
      <p:sp>
        <p:nvSpPr>
          <p:cNvPr id="33" name="TextBox 32"/>
          <p:cNvSpPr txBox="1"/>
          <p:nvPr/>
        </p:nvSpPr>
        <p:spPr>
          <a:xfrm>
            <a:off x="8258556" y="4306824"/>
            <a:ext cx="3610356" cy="402336"/>
          </a:xfrm>
          <a:prstGeom prst="rect">
            <a:avLst/>
          </a:prstGeom>
          <a:noFill/>
        </p:spPr>
        <p:txBody>
          <a:bodyPr wrap="square">
            <a:spAutoFit/>
          </a:bodyPr>
          <a:lstStyle/>
          <a:p>
            <a:pPr algn="l"/>
            <a:r>
              <a:rPr sz="900" b="0" i="0">
                <a:solidFill>
                  <a:srgbClr val="55657A"/>
                </a:solidFill>
              </a:rPr>
              <a:t>update_attackers() steps state machines</a:t>
            </a:r>
          </a:p>
        </p:txBody>
      </p:sp>
      <p:sp>
        <p:nvSpPr>
          <p:cNvPr id="34" name="TextBox 33"/>
          <p:cNvSpPr txBox="1"/>
          <p:nvPr/>
        </p:nvSpPr>
        <p:spPr>
          <a:xfrm>
            <a:off x="8258556" y="4764024"/>
            <a:ext cx="3610356" cy="310896"/>
          </a:xfrm>
          <a:prstGeom prst="rect">
            <a:avLst/>
          </a:prstGeom>
          <a:noFill/>
        </p:spPr>
        <p:txBody>
          <a:bodyPr wrap="square">
            <a:spAutoFit/>
          </a:bodyPr>
          <a:lstStyle/>
          <a:p>
            <a:pPr algn="l"/>
            <a:r>
              <a:rPr sz="1000" b="1" i="0">
                <a:solidFill>
                  <a:srgbClr val="1A2F5E"/>
                </a:solidFill>
              </a:rPr>
              <a:t>≈ →  Gemini</a:t>
            </a:r>
          </a:p>
        </p:txBody>
      </p:sp>
      <p:sp>
        <p:nvSpPr>
          <p:cNvPr id="35" name="TextBox 34"/>
          <p:cNvSpPr txBox="1"/>
          <p:nvPr/>
        </p:nvSpPr>
        <p:spPr>
          <a:xfrm>
            <a:off x="8258556" y="5074920"/>
            <a:ext cx="3610356" cy="402336"/>
          </a:xfrm>
          <a:prstGeom prst="rect">
            <a:avLst/>
          </a:prstGeom>
          <a:noFill/>
        </p:spPr>
        <p:txBody>
          <a:bodyPr wrap="square">
            <a:spAutoFit/>
          </a:bodyPr>
          <a:lstStyle/>
          <a:p>
            <a:pPr algn="l"/>
            <a:r>
              <a:rPr sz="900" b="0" i="0">
                <a:solidFill>
                  <a:srgbClr val="55657A"/>
                </a:solidFill>
              </a:rPr>
              <a:t>ask_gemini() → parse JSON decision</a:t>
            </a:r>
          </a:p>
        </p:txBody>
      </p:sp>
      <p:sp>
        <p:nvSpPr>
          <p:cNvPr id="36" name="TextBox 35"/>
          <p:cNvSpPr txBox="1"/>
          <p:nvPr/>
        </p:nvSpPr>
        <p:spPr>
          <a:xfrm>
            <a:off x="8258556" y="5532120"/>
            <a:ext cx="3610356" cy="310896"/>
          </a:xfrm>
          <a:prstGeom prst="rect">
            <a:avLst/>
          </a:prstGeom>
          <a:noFill/>
        </p:spPr>
        <p:txBody>
          <a:bodyPr wrap="square">
            <a:spAutoFit/>
          </a:bodyPr>
          <a:lstStyle/>
          <a:p>
            <a:pPr algn="l"/>
            <a:r>
              <a:rPr sz="1000" b="1" i="0">
                <a:solidFill>
                  <a:srgbClr val="1A2F5E"/>
                </a:solidFill>
              </a:rPr>
              <a:t>➜  Outputs</a:t>
            </a:r>
          </a:p>
        </p:txBody>
      </p:sp>
      <p:sp>
        <p:nvSpPr>
          <p:cNvPr id="37" name="TextBox 36"/>
          <p:cNvSpPr txBox="1"/>
          <p:nvPr/>
        </p:nvSpPr>
        <p:spPr>
          <a:xfrm>
            <a:off x="8258556" y="5843016"/>
            <a:ext cx="3610356" cy="402336"/>
          </a:xfrm>
          <a:prstGeom prst="rect">
            <a:avLst/>
          </a:prstGeom>
          <a:noFill/>
        </p:spPr>
        <p:txBody>
          <a:bodyPr wrap="square">
            <a:spAutoFit/>
          </a:bodyPr>
          <a:lstStyle/>
          <a:p>
            <a:pPr algn="l"/>
            <a:r>
              <a:rPr sz="900" b="0" i="0">
                <a:solidFill>
                  <a:srgbClr val="55657A"/>
                </a:solidFill>
              </a:rPr>
              <a:t>Reports &amp; logs saved to reports/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29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8229600" cy="411480"/>
          </a:xfrm>
          <a:prstGeom prst="rect">
            <a:avLst/>
          </a:prstGeom>
          <a:noFill/>
        </p:spPr>
        <p:txBody>
          <a:bodyPr wrap="square">
            <a:spAutoFit/>
          </a:bodyPr>
          <a:lstStyle/>
          <a:p>
            <a:pPr algn="l"/>
            <a:r>
              <a:rPr sz="2200" b="1" i="0">
                <a:solidFill>
                  <a:srgbClr val="FFFFFF"/>
                </a:solidFill>
              </a:rPr>
              <a:t>Live Demo</a:t>
            </a:r>
          </a:p>
        </p:txBody>
      </p:sp>
      <p:sp>
        <p:nvSpPr>
          <p:cNvPr id="4" name="TextBox 3"/>
          <p:cNvSpPr txBox="1"/>
          <p:nvPr/>
        </p:nvSpPr>
        <p:spPr>
          <a:xfrm>
            <a:off x="411480" y="594360"/>
            <a:ext cx="8229600" cy="347472"/>
          </a:xfrm>
          <a:prstGeom prst="rect">
            <a:avLst/>
          </a:prstGeom>
          <a:noFill/>
        </p:spPr>
        <p:txBody>
          <a:bodyPr wrap="square">
            <a:spAutoFit/>
          </a:bodyPr>
          <a:lstStyle/>
          <a:p>
            <a:pPr algn="l"/>
            <a:r>
              <a:rPr sz="1300" b="0" i="1">
                <a:solidFill>
                  <a:srgbClr val="55657A"/>
                </a:solidFill>
              </a:rPr>
              <a:t>Streamlit dashboard running at localhost:8501</a:t>
            </a:r>
          </a:p>
        </p:txBody>
      </p:sp>
      <p:sp>
        <p:nvSpPr>
          <p:cNvPr id="5" name="Rectangle 4"/>
          <p:cNvSpPr/>
          <p:nvPr/>
        </p:nvSpPr>
        <p:spPr>
          <a:xfrm>
            <a:off x="320040" y="1005840"/>
            <a:ext cx="5623560" cy="41148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05840"/>
            <a:ext cx="5623560" cy="64008"/>
          </a:xfrm>
          <a:prstGeom prst="rect">
            <a:avLst/>
          </a:prstGeom>
          <a:solidFill>
            <a:srgbClr val="008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51560"/>
            <a:ext cx="5303520" cy="320040"/>
          </a:xfrm>
          <a:prstGeom prst="rect">
            <a:avLst/>
          </a:prstGeom>
          <a:noFill/>
        </p:spPr>
        <p:txBody>
          <a:bodyPr wrap="square">
            <a:spAutoFit/>
          </a:bodyPr>
          <a:lstStyle/>
          <a:p>
            <a:pPr algn="l"/>
            <a:r>
              <a:rPr sz="1200" b="1" i="0">
                <a:solidFill>
                  <a:srgbClr val="0087A8"/>
                </a:solidFill>
              </a:rPr>
              <a:t>📊  Dashboard — Attacker Phases &amp; Scores</a:t>
            </a:r>
          </a:p>
        </p:txBody>
      </p:sp>
      <p:pic>
        <p:nvPicPr>
          <p:cNvPr id="8" name="Picture 7" descr="ss1.png"/>
          <p:cNvPicPr>
            <a:picLocks noChangeAspect="1"/>
          </p:cNvPicPr>
          <p:nvPr/>
        </p:nvPicPr>
        <p:blipFill>
          <a:blip r:embed="rId2"/>
          <a:stretch>
            <a:fillRect/>
          </a:stretch>
        </p:blipFill>
        <p:spPr>
          <a:xfrm>
            <a:off x="320040" y="1481328"/>
            <a:ext cx="5623560" cy="5074920"/>
          </a:xfrm>
          <a:prstGeom prst="rect">
            <a:avLst/>
          </a:prstGeom>
        </p:spPr>
      </p:pic>
      <p:sp>
        <p:nvSpPr>
          <p:cNvPr id="9" name="Rectangle 8"/>
          <p:cNvSpPr/>
          <p:nvPr/>
        </p:nvSpPr>
        <p:spPr>
          <a:xfrm>
            <a:off x="320040" y="1481328"/>
            <a:ext cx="5623560" cy="5074920"/>
          </a:xfrm>
          <a:prstGeom prst="rect">
            <a:avLst/>
          </a:prstGeom>
          <a:noFill/>
          <a:ln w="19050">
            <a:solidFill>
              <a:srgbClr val="0087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1005840"/>
            <a:ext cx="5623560" cy="41148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005840"/>
            <a:ext cx="5623560" cy="64008"/>
          </a:xfrm>
          <a:prstGeom prst="rect">
            <a:avLst/>
          </a:prstGeom>
          <a:solidFill>
            <a:srgbClr val="D48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051560"/>
            <a:ext cx="5303520" cy="320040"/>
          </a:xfrm>
          <a:prstGeom prst="rect">
            <a:avLst/>
          </a:prstGeom>
          <a:noFill/>
        </p:spPr>
        <p:txBody>
          <a:bodyPr wrap="square">
            <a:spAutoFit/>
          </a:bodyPr>
          <a:lstStyle/>
          <a:p>
            <a:pPr algn="l"/>
            <a:r>
              <a:rPr sz="1200" b="1" i="0">
                <a:solidFill>
                  <a:srgbClr val="D48E00"/>
                </a:solidFill>
              </a:rPr>
              <a:t>🗂️  Attacker Table &amp; Event Log</a:t>
            </a:r>
          </a:p>
        </p:txBody>
      </p:sp>
      <p:pic>
        <p:nvPicPr>
          <p:cNvPr id="13" name="Picture 12" descr="ss2.png"/>
          <p:cNvPicPr>
            <a:picLocks noChangeAspect="1"/>
          </p:cNvPicPr>
          <p:nvPr/>
        </p:nvPicPr>
        <p:blipFill>
          <a:blip r:embed="rId3"/>
          <a:stretch>
            <a:fillRect/>
          </a:stretch>
        </p:blipFill>
        <p:spPr>
          <a:xfrm>
            <a:off x="6263640" y="1481328"/>
            <a:ext cx="5623560" cy="5074920"/>
          </a:xfrm>
          <a:prstGeom prst="rect">
            <a:avLst/>
          </a:prstGeom>
        </p:spPr>
      </p:pic>
      <p:sp>
        <p:nvSpPr>
          <p:cNvPr id="14" name="Rectangle 13"/>
          <p:cNvSpPr/>
          <p:nvPr/>
        </p:nvSpPr>
        <p:spPr>
          <a:xfrm>
            <a:off x="6263640" y="1481328"/>
            <a:ext cx="5623560" cy="5074920"/>
          </a:xfrm>
          <a:prstGeom prst="rect">
            <a:avLst/>
          </a:prstGeom>
          <a:noFill/>
          <a:ln w="19050">
            <a:solidFill>
              <a:srgbClr val="D48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29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144000" cy="411480"/>
          </a:xfrm>
          <a:prstGeom prst="rect">
            <a:avLst/>
          </a:prstGeom>
          <a:noFill/>
        </p:spPr>
        <p:txBody>
          <a:bodyPr wrap="square">
            <a:spAutoFit/>
          </a:bodyPr>
          <a:lstStyle/>
          <a:p>
            <a:pPr algn="l"/>
            <a:r>
              <a:rPr sz="2200" b="1" i="0">
                <a:solidFill>
                  <a:srgbClr val="FFFFFF"/>
                </a:solidFill>
              </a:rPr>
              <a:t>Attack Phases &amp; Agent Loop</a:t>
            </a:r>
          </a:p>
        </p:txBody>
      </p:sp>
      <p:sp>
        <p:nvSpPr>
          <p:cNvPr id="4" name="TextBox 3"/>
          <p:cNvSpPr txBox="1"/>
          <p:nvPr/>
        </p:nvSpPr>
        <p:spPr>
          <a:xfrm>
            <a:off x="411480" y="658368"/>
            <a:ext cx="5029200" cy="347472"/>
          </a:xfrm>
          <a:prstGeom prst="rect">
            <a:avLst/>
          </a:prstGeom>
          <a:noFill/>
        </p:spPr>
        <p:txBody>
          <a:bodyPr wrap="square">
            <a:spAutoFit/>
          </a:bodyPr>
          <a:lstStyle/>
          <a:p>
            <a:pPr algn="l"/>
            <a:r>
              <a:rPr sz="1500" b="1" i="0">
                <a:solidFill>
                  <a:srgbClr val="1A7A50"/>
                </a:solidFill>
              </a:rPr>
              <a:t>Attacker State Machine</a:t>
            </a:r>
          </a:p>
        </p:txBody>
      </p:sp>
      <p:sp>
        <p:nvSpPr>
          <p:cNvPr id="5" name="Rectangle 4"/>
          <p:cNvSpPr/>
          <p:nvPr/>
        </p:nvSpPr>
        <p:spPr>
          <a:xfrm>
            <a:off x="365760" y="1078992"/>
            <a:ext cx="256032" cy="685800"/>
          </a:xfrm>
          <a:prstGeom prst="rect">
            <a:avLst/>
          </a:prstGeom>
          <a:solidFill>
            <a:srgbClr val="CC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 y="1078992"/>
            <a:ext cx="5029200" cy="6858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 y="1078992"/>
            <a:ext cx="5029200" cy="6858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143000"/>
            <a:ext cx="2743200" cy="320040"/>
          </a:xfrm>
          <a:prstGeom prst="rect">
            <a:avLst/>
          </a:prstGeom>
          <a:noFill/>
        </p:spPr>
        <p:txBody>
          <a:bodyPr wrap="square">
            <a:spAutoFit/>
          </a:bodyPr>
          <a:lstStyle/>
          <a:p>
            <a:pPr algn="l"/>
            <a:r>
              <a:rPr sz="1300" b="1" i="0">
                <a:solidFill>
                  <a:srgbClr val="1A2F5E"/>
                </a:solidFill>
              </a:rPr>
              <a:t>🔍 Scanning</a:t>
            </a:r>
          </a:p>
        </p:txBody>
      </p:sp>
      <p:sp>
        <p:nvSpPr>
          <p:cNvPr id="9" name="TextBox 8"/>
          <p:cNvSpPr txBox="1"/>
          <p:nvPr/>
        </p:nvSpPr>
        <p:spPr>
          <a:xfrm>
            <a:off x="804672" y="1463039"/>
            <a:ext cx="4572000" cy="256032"/>
          </a:xfrm>
          <a:prstGeom prst="rect">
            <a:avLst/>
          </a:prstGeom>
          <a:noFill/>
        </p:spPr>
        <p:txBody>
          <a:bodyPr wrap="square">
            <a:spAutoFit/>
          </a:bodyPr>
          <a:lstStyle/>
          <a:p>
            <a:pPr algn="l"/>
            <a:r>
              <a:rPr sz="1000" b="0" i="0">
                <a:solidFill>
                  <a:srgbClr val="55657A"/>
                </a:solidFill>
              </a:rPr>
              <a:t>Initial probe — low risk</a:t>
            </a:r>
          </a:p>
        </p:txBody>
      </p:sp>
      <p:sp>
        <p:nvSpPr>
          <p:cNvPr id="10" name="Rectangle 9"/>
          <p:cNvSpPr/>
          <p:nvPr/>
        </p:nvSpPr>
        <p:spPr>
          <a:xfrm>
            <a:off x="365760" y="1993391"/>
            <a:ext cx="256032" cy="685800"/>
          </a:xfrm>
          <a:prstGeom prst="rect">
            <a:avLst/>
          </a:prstGeom>
          <a:solidFill>
            <a:srgbClr val="D45A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 y="1993391"/>
            <a:ext cx="5029200" cy="6858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 y="1993391"/>
            <a:ext cx="5029200" cy="6858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057399"/>
            <a:ext cx="2743200" cy="320040"/>
          </a:xfrm>
          <a:prstGeom prst="rect">
            <a:avLst/>
          </a:prstGeom>
          <a:noFill/>
        </p:spPr>
        <p:txBody>
          <a:bodyPr wrap="square">
            <a:spAutoFit/>
          </a:bodyPr>
          <a:lstStyle/>
          <a:p>
            <a:pPr algn="l"/>
            <a:r>
              <a:rPr sz="1300" b="1" i="0">
                <a:solidFill>
                  <a:srgbClr val="1A2F5E"/>
                </a:solidFill>
              </a:rPr>
              <a:t>🔐 Brute Force</a:t>
            </a:r>
          </a:p>
        </p:txBody>
      </p:sp>
      <p:sp>
        <p:nvSpPr>
          <p:cNvPr id="14" name="TextBox 13"/>
          <p:cNvSpPr txBox="1"/>
          <p:nvPr/>
        </p:nvSpPr>
        <p:spPr>
          <a:xfrm>
            <a:off x="804672" y="2377439"/>
            <a:ext cx="4572000" cy="256032"/>
          </a:xfrm>
          <a:prstGeom prst="rect">
            <a:avLst/>
          </a:prstGeom>
          <a:noFill/>
        </p:spPr>
        <p:txBody>
          <a:bodyPr wrap="square">
            <a:spAutoFit/>
          </a:bodyPr>
          <a:lstStyle/>
          <a:p>
            <a:pPr algn="l"/>
            <a:r>
              <a:rPr sz="1000" b="0" i="0">
                <a:solidFill>
                  <a:srgbClr val="55657A"/>
                </a:solidFill>
              </a:rPr>
              <a:t>Password attacks begin</a:t>
            </a:r>
          </a:p>
        </p:txBody>
      </p:sp>
      <p:sp>
        <p:nvSpPr>
          <p:cNvPr id="15" name="Rectangle 14"/>
          <p:cNvSpPr/>
          <p:nvPr/>
        </p:nvSpPr>
        <p:spPr>
          <a:xfrm>
            <a:off x="365760" y="2907791"/>
            <a:ext cx="256032" cy="685800"/>
          </a:xfrm>
          <a:prstGeom prst="rect">
            <a:avLst/>
          </a:prstGeom>
          <a:solidFill>
            <a:srgbClr val="C035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 y="2907791"/>
            <a:ext cx="5029200" cy="6858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 y="2907791"/>
            <a:ext cx="5029200" cy="6858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2971799"/>
            <a:ext cx="2743200" cy="320040"/>
          </a:xfrm>
          <a:prstGeom prst="rect">
            <a:avLst/>
          </a:prstGeom>
          <a:noFill/>
        </p:spPr>
        <p:txBody>
          <a:bodyPr wrap="square">
            <a:spAutoFit/>
          </a:bodyPr>
          <a:lstStyle/>
          <a:p>
            <a:pPr algn="l"/>
            <a:r>
              <a:rPr sz="1300" b="1" i="0">
                <a:solidFill>
                  <a:srgbClr val="1A2F5E"/>
                </a:solidFill>
              </a:rPr>
              <a:t>💥 Exploit</a:t>
            </a:r>
          </a:p>
        </p:txBody>
      </p:sp>
      <p:sp>
        <p:nvSpPr>
          <p:cNvPr id="19" name="TextBox 18"/>
          <p:cNvSpPr txBox="1"/>
          <p:nvPr/>
        </p:nvSpPr>
        <p:spPr>
          <a:xfrm>
            <a:off x="804672" y="3291839"/>
            <a:ext cx="4572000" cy="256032"/>
          </a:xfrm>
          <a:prstGeom prst="rect">
            <a:avLst/>
          </a:prstGeom>
          <a:noFill/>
        </p:spPr>
        <p:txBody>
          <a:bodyPr wrap="square">
            <a:spAutoFit/>
          </a:bodyPr>
          <a:lstStyle/>
          <a:p>
            <a:pPr algn="l"/>
            <a:r>
              <a:rPr sz="1000" b="0" i="0">
                <a:solidFill>
                  <a:srgbClr val="55657A"/>
                </a:solidFill>
              </a:rPr>
              <a:t>Vulnerability targeting</a:t>
            </a:r>
          </a:p>
        </p:txBody>
      </p:sp>
      <p:sp>
        <p:nvSpPr>
          <p:cNvPr id="20" name="Rectangle 19"/>
          <p:cNvSpPr/>
          <p:nvPr/>
        </p:nvSpPr>
        <p:spPr>
          <a:xfrm>
            <a:off x="365760" y="3822191"/>
            <a:ext cx="256032" cy="685800"/>
          </a:xfrm>
          <a:prstGeom prst="rect">
            <a:avLst/>
          </a:prstGeom>
          <a:solidFill>
            <a:srgbClr val="8B1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 y="3822191"/>
            <a:ext cx="5029200" cy="6858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 y="3822191"/>
            <a:ext cx="5029200" cy="6858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886200"/>
            <a:ext cx="2743200" cy="320040"/>
          </a:xfrm>
          <a:prstGeom prst="rect">
            <a:avLst/>
          </a:prstGeom>
          <a:noFill/>
        </p:spPr>
        <p:txBody>
          <a:bodyPr wrap="square">
            <a:spAutoFit/>
          </a:bodyPr>
          <a:lstStyle/>
          <a:p>
            <a:pPr algn="l"/>
            <a:r>
              <a:rPr sz="1300" b="1" i="0">
                <a:solidFill>
                  <a:srgbClr val="1A2F5E"/>
                </a:solidFill>
              </a:rPr>
              <a:t>🔧 Persistence</a:t>
            </a:r>
          </a:p>
        </p:txBody>
      </p:sp>
      <p:sp>
        <p:nvSpPr>
          <p:cNvPr id="24" name="TextBox 23"/>
          <p:cNvSpPr txBox="1"/>
          <p:nvPr/>
        </p:nvSpPr>
        <p:spPr>
          <a:xfrm>
            <a:off x="804672" y="4206240"/>
            <a:ext cx="4572000" cy="256032"/>
          </a:xfrm>
          <a:prstGeom prst="rect">
            <a:avLst/>
          </a:prstGeom>
          <a:noFill/>
        </p:spPr>
        <p:txBody>
          <a:bodyPr wrap="square">
            <a:spAutoFit/>
          </a:bodyPr>
          <a:lstStyle/>
          <a:p>
            <a:pPr algn="l"/>
            <a:r>
              <a:rPr sz="1000" b="0" i="0">
                <a:solidFill>
                  <a:srgbClr val="55657A"/>
                </a:solidFill>
              </a:rPr>
              <a:t>Backdoors &amp; foothold</a:t>
            </a:r>
          </a:p>
        </p:txBody>
      </p:sp>
      <p:sp>
        <p:nvSpPr>
          <p:cNvPr id="25" name="Rectangle 24"/>
          <p:cNvSpPr/>
          <p:nvPr/>
        </p:nvSpPr>
        <p:spPr>
          <a:xfrm>
            <a:off x="365760" y="4736592"/>
            <a:ext cx="256032" cy="685800"/>
          </a:xfrm>
          <a:prstGeom prst="rect">
            <a:avLst/>
          </a:prstGeom>
          <a:solidFill>
            <a:srgbClr val="55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 y="4736592"/>
            <a:ext cx="5029200" cy="6858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 y="4736592"/>
            <a:ext cx="5029200" cy="6858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 y="4800600"/>
            <a:ext cx="2743200" cy="320040"/>
          </a:xfrm>
          <a:prstGeom prst="rect">
            <a:avLst/>
          </a:prstGeom>
          <a:noFill/>
        </p:spPr>
        <p:txBody>
          <a:bodyPr wrap="square">
            <a:spAutoFit/>
          </a:bodyPr>
          <a:lstStyle/>
          <a:p>
            <a:pPr algn="l"/>
            <a:r>
              <a:rPr sz="1300" b="1" i="0">
                <a:solidFill>
                  <a:srgbClr val="1A2F5E"/>
                </a:solidFill>
              </a:rPr>
              <a:t>📤 Data Exfiltration</a:t>
            </a:r>
          </a:p>
        </p:txBody>
      </p:sp>
      <p:sp>
        <p:nvSpPr>
          <p:cNvPr id="29" name="TextBox 28"/>
          <p:cNvSpPr txBox="1"/>
          <p:nvPr/>
        </p:nvSpPr>
        <p:spPr>
          <a:xfrm>
            <a:off x="804672" y="5120640"/>
            <a:ext cx="4572000" cy="256032"/>
          </a:xfrm>
          <a:prstGeom prst="rect">
            <a:avLst/>
          </a:prstGeom>
          <a:noFill/>
        </p:spPr>
        <p:txBody>
          <a:bodyPr wrap="square">
            <a:spAutoFit/>
          </a:bodyPr>
          <a:lstStyle/>
          <a:p>
            <a:pPr algn="l"/>
            <a:r>
              <a:rPr sz="1000" b="0" i="0">
                <a:solidFill>
                  <a:srgbClr val="55657A"/>
                </a:solidFill>
              </a:rPr>
              <a:t>Data theft in progress</a:t>
            </a:r>
          </a:p>
        </p:txBody>
      </p:sp>
      <p:sp>
        <p:nvSpPr>
          <p:cNvPr id="30" name="Rectangle 29"/>
          <p:cNvSpPr/>
          <p:nvPr/>
        </p:nvSpPr>
        <p:spPr>
          <a:xfrm>
            <a:off x="365760" y="5650992"/>
            <a:ext cx="256032" cy="685800"/>
          </a:xfrm>
          <a:prstGeom prst="rect">
            <a:avLst/>
          </a:prstGeom>
          <a:solidFill>
            <a:srgbClr val="667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 y="5650992"/>
            <a:ext cx="5029200" cy="6858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 y="5650992"/>
            <a:ext cx="5029200" cy="68580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5715000"/>
            <a:ext cx="2743200" cy="320040"/>
          </a:xfrm>
          <a:prstGeom prst="rect">
            <a:avLst/>
          </a:prstGeom>
          <a:noFill/>
        </p:spPr>
        <p:txBody>
          <a:bodyPr wrap="square">
            <a:spAutoFit/>
          </a:bodyPr>
          <a:lstStyle/>
          <a:p>
            <a:pPr algn="l"/>
            <a:r>
              <a:rPr sz="1300" b="1" i="0">
                <a:solidFill>
                  <a:srgbClr val="1A2F5E"/>
                </a:solidFill>
              </a:rPr>
              <a:t>💤 Dormant</a:t>
            </a:r>
          </a:p>
        </p:txBody>
      </p:sp>
      <p:sp>
        <p:nvSpPr>
          <p:cNvPr id="34" name="TextBox 33"/>
          <p:cNvSpPr txBox="1"/>
          <p:nvPr/>
        </p:nvSpPr>
        <p:spPr>
          <a:xfrm>
            <a:off x="804672" y="6035040"/>
            <a:ext cx="4572000" cy="256032"/>
          </a:xfrm>
          <a:prstGeom prst="rect">
            <a:avLst/>
          </a:prstGeom>
          <a:noFill/>
        </p:spPr>
        <p:txBody>
          <a:bodyPr wrap="square">
            <a:spAutoFit/>
          </a:bodyPr>
          <a:lstStyle/>
          <a:p>
            <a:pPr algn="l"/>
            <a:r>
              <a:rPr sz="1000" b="0" i="0">
                <a:solidFill>
                  <a:srgbClr val="55657A"/>
                </a:solidFill>
              </a:rPr>
              <a:t>Waiting to re-activate</a:t>
            </a:r>
          </a:p>
        </p:txBody>
      </p:sp>
      <p:sp>
        <p:nvSpPr>
          <p:cNvPr id="35" name="TextBox 34"/>
          <p:cNvSpPr txBox="1"/>
          <p:nvPr/>
        </p:nvSpPr>
        <p:spPr>
          <a:xfrm>
            <a:off x="6492240" y="658368"/>
            <a:ext cx="5029200" cy="347472"/>
          </a:xfrm>
          <a:prstGeom prst="rect">
            <a:avLst/>
          </a:prstGeom>
          <a:noFill/>
        </p:spPr>
        <p:txBody>
          <a:bodyPr wrap="square">
            <a:spAutoFit/>
          </a:bodyPr>
          <a:lstStyle/>
          <a:p>
            <a:pPr algn="l"/>
            <a:r>
              <a:rPr sz="1500" b="1" i="0">
                <a:solidFill>
                  <a:srgbClr val="0087A8"/>
                </a:solidFill>
              </a:rPr>
              <a:t>Agent Decision Loop</a:t>
            </a:r>
          </a:p>
        </p:txBody>
      </p:sp>
      <p:sp>
        <p:nvSpPr>
          <p:cNvPr id="36" name="Rectangle 35"/>
          <p:cNvSpPr/>
          <p:nvPr/>
        </p:nvSpPr>
        <p:spPr>
          <a:xfrm>
            <a:off x="6400800" y="1078992"/>
            <a:ext cx="5486400" cy="109728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0" y="1078992"/>
            <a:ext cx="5486400" cy="64008"/>
          </a:xfrm>
          <a:prstGeom prst="rect">
            <a:avLst/>
          </a:prstGeom>
          <a:solidFill>
            <a:srgbClr val="008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00800" y="1078992"/>
            <a:ext cx="566928" cy="1097280"/>
          </a:xfrm>
          <a:prstGeom prst="rect">
            <a:avLst/>
          </a:prstGeom>
          <a:solidFill>
            <a:srgbClr val="008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9944" y="1353312"/>
            <a:ext cx="548640" cy="502920"/>
          </a:xfrm>
          <a:prstGeom prst="rect">
            <a:avLst/>
          </a:prstGeom>
          <a:noFill/>
        </p:spPr>
        <p:txBody>
          <a:bodyPr wrap="square">
            <a:spAutoFit/>
          </a:bodyPr>
          <a:lstStyle/>
          <a:p>
            <a:pPr algn="ctr"/>
            <a:r>
              <a:rPr sz="2200" b="1" i="0">
                <a:solidFill>
                  <a:srgbClr val="FFFFFF"/>
                </a:solidFill>
              </a:rPr>
              <a:t>1</a:t>
            </a:r>
          </a:p>
        </p:txBody>
      </p:sp>
      <p:sp>
        <p:nvSpPr>
          <p:cNvPr id="40" name="TextBox 39"/>
          <p:cNvSpPr txBox="1"/>
          <p:nvPr/>
        </p:nvSpPr>
        <p:spPr>
          <a:xfrm>
            <a:off x="7114032" y="1170432"/>
            <a:ext cx="4572000" cy="411480"/>
          </a:xfrm>
          <a:prstGeom prst="rect">
            <a:avLst/>
          </a:prstGeom>
          <a:noFill/>
        </p:spPr>
        <p:txBody>
          <a:bodyPr wrap="square">
            <a:spAutoFit/>
          </a:bodyPr>
          <a:lstStyle/>
          <a:p>
            <a:pPr algn="l"/>
            <a:r>
              <a:rPr sz="1600" b="1" i="0">
                <a:solidFill>
                  <a:srgbClr val="0087A8"/>
                </a:solidFill>
              </a:rPr>
              <a:t>OBSERVE</a:t>
            </a:r>
          </a:p>
        </p:txBody>
      </p:sp>
      <p:sp>
        <p:nvSpPr>
          <p:cNvPr id="41" name="TextBox 40"/>
          <p:cNvSpPr txBox="1"/>
          <p:nvPr/>
        </p:nvSpPr>
        <p:spPr>
          <a:xfrm>
            <a:off x="7114032" y="1645919"/>
            <a:ext cx="4572000" cy="411480"/>
          </a:xfrm>
          <a:prstGeom prst="rect">
            <a:avLst/>
          </a:prstGeom>
          <a:noFill/>
        </p:spPr>
        <p:txBody>
          <a:bodyPr wrap="square">
            <a:spAutoFit/>
          </a:bodyPr>
          <a:lstStyle/>
          <a:p>
            <a:pPr algn="l"/>
            <a:r>
              <a:rPr sz="1200" b="0" i="0">
                <a:solidFill>
                  <a:srgbClr val="55657A"/>
                </a:solidFill>
              </a:rPr>
              <a:t>Read attacker phases &amp; honeypot config</a:t>
            </a:r>
          </a:p>
        </p:txBody>
      </p:sp>
      <p:sp>
        <p:nvSpPr>
          <p:cNvPr id="42" name="Rectangle 41"/>
          <p:cNvSpPr/>
          <p:nvPr/>
        </p:nvSpPr>
        <p:spPr>
          <a:xfrm>
            <a:off x="6400800" y="2404872"/>
            <a:ext cx="5486400" cy="109728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0" y="2404872"/>
            <a:ext cx="5486400" cy="64008"/>
          </a:xfrm>
          <a:prstGeom prst="rect">
            <a:avLst/>
          </a:prstGeom>
          <a:solidFill>
            <a:srgbClr val="D48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400800" y="2404872"/>
            <a:ext cx="566928" cy="1097280"/>
          </a:xfrm>
          <a:prstGeom prst="rect">
            <a:avLst/>
          </a:prstGeom>
          <a:solidFill>
            <a:srgbClr val="D48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9944" y="2679191"/>
            <a:ext cx="548640" cy="502920"/>
          </a:xfrm>
          <a:prstGeom prst="rect">
            <a:avLst/>
          </a:prstGeom>
          <a:noFill/>
        </p:spPr>
        <p:txBody>
          <a:bodyPr wrap="square">
            <a:spAutoFit/>
          </a:bodyPr>
          <a:lstStyle/>
          <a:p>
            <a:pPr algn="ctr"/>
            <a:r>
              <a:rPr sz="2200" b="1" i="0">
                <a:solidFill>
                  <a:srgbClr val="FFFFFF"/>
                </a:solidFill>
              </a:rPr>
              <a:t>2</a:t>
            </a:r>
          </a:p>
        </p:txBody>
      </p:sp>
      <p:sp>
        <p:nvSpPr>
          <p:cNvPr id="46" name="TextBox 45"/>
          <p:cNvSpPr txBox="1"/>
          <p:nvPr/>
        </p:nvSpPr>
        <p:spPr>
          <a:xfrm>
            <a:off x="7114032" y="2496312"/>
            <a:ext cx="4572000" cy="411480"/>
          </a:xfrm>
          <a:prstGeom prst="rect">
            <a:avLst/>
          </a:prstGeom>
          <a:noFill/>
        </p:spPr>
        <p:txBody>
          <a:bodyPr wrap="square">
            <a:spAutoFit/>
          </a:bodyPr>
          <a:lstStyle/>
          <a:p>
            <a:pPr algn="l"/>
            <a:r>
              <a:rPr sz="1600" b="1" i="0">
                <a:solidFill>
                  <a:srgbClr val="D48E00"/>
                </a:solidFill>
              </a:rPr>
              <a:t>DECIDE</a:t>
            </a:r>
          </a:p>
        </p:txBody>
      </p:sp>
      <p:sp>
        <p:nvSpPr>
          <p:cNvPr id="47" name="TextBox 46"/>
          <p:cNvSpPr txBox="1"/>
          <p:nvPr/>
        </p:nvSpPr>
        <p:spPr>
          <a:xfrm>
            <a:off x="7114032" y="2971800"/>
            <a:ext cx="4572000" cy="411480"/>
          </a:xfrm>
          <a:prstGeom prst="rect">
            <a:avLst/>
          </a:prstGeom>
          <a:noFill/>
        </p:spPr>
        <p:txBody>
          <a:bodyPr wrap="square">
            <a:spAutoFit/>
          </a:bodyPr>
          <a:lstStyle/>
          <a:p>
            <a:pPr algn="l"/>
            <a:r>
              <a:rPr sz="1200" b="0" i="0">
                <a:solidFill>
                  <a:srgbClr val="55657A"/>
                </a:solidFill>
              </a:rPr>
              <a:t>Gemini API → rule-based fallback</a:t>
            </a:r>
          </a:p>
        </p:txBody>
      </p:sp>
      <p:sp>
        <p:nvSpPr>
          <p:cNvPr id="48" name="Rectangle 47"/>
          <p:cNvSpPr/>
          <p:nvPr/>
        </p:nvSpPr>
        <p:spPr>
          <a:xfrm>
            <a:off x="6400800" y="3730752"/>
            <a:ext cx="5486400" cy="109728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400800" y="3730752"/>
            <a:ext cx="5486400" cy="64008"/>
          </a:xfrm>
          <a:prstGeom prst="rect">
            <a:avLst/>
          </a:prstGeom>
          <a:solidFill>
            <a:srgbClr val="1A7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400800" y="3730752"/>
            <a:ext cx="566928" cy="1097280"/>
          </a:xfrm>
          <a:prstGeom prst="rect">
            <a:avLst/>
          </a:prstGeom>
          <a:solidFill>
            <a:srgbClr val="1A7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9944" y="4005072"/>
            <a:ext cx="548640" cy="502920"/>
          </a:xfrm>
          <a:prstGeom prst="rect">
            <a:avLst/>
          </a:prstGeom>
          <a:noFill/>
        </p:spPr>
        <p:txBody>
          <a:bodyPr wrap="square">
            <a:spAutoFit/>
          </a:bodyPr>
          <a:lstStyle/>
          <a:p>
            <a:pPr algn="ctr"/>
            <a:r>
              <a:rPr sz="2200" b="1" i="0">
                <a:solidFill>
                  <a:srgbClr val="FFFFFF"/>
                </a:solidFill>
              </a:rPr>
              <a:t>3</a:t>
            </a:r>
          </a:p>
        </p:txBody>
      </p:sp>
      <p:sp>
        <p:nvSpPr>
          <p:cNvPr id="52" name="TextBox 51"/>
          <p:cNvSpPr txBox="1"/>
          <p:nvPr/>
        </p:nvSpPr>
        <p:spPr>
          <a:xfrm>
            <a:off x="7114032" y="3822191"/>
            <a:ext cx="4572000" cy="411480"/>
          </a:xfrm>
          <a:prstGeom prst="rect">
            <a:avLst/>
          </a:prstGeom>
          <a:noFill/>
        </p:spPr>
        <p:txBody>
          <a:bodyPr wrap="square">
            <a:spAutoFit/>
          </a:bodyPr>
          <a:lstStyle/>
          <a:p>
            <a:pPr algn="l"/>
            <a:r>
              <a:rPr sz="1600" b="1" i="0">
                <a:solidFill>
                  <a:srgbClr val="1A7A50"/>
                </a:solidFill>
              </a:rPr>
              <a:t>ACT</a:t>
            </a:r>
          </a:p>
        </p:txBody>
      </p:sp>
      <p:sp>
        <p:nvSpPr>
          <p:cNvPr id="53" name="TextBox 52"/>
          <p:cNvSpPr txBox="1"/>
          <p:nvPr/>
        </p:nvSpPr>
        <p:spPr>
          <a:xfrm>
            <a:off x="7114032" y="4297680"/>
            <a:ext cx="4572000" cy="411480"/>
          </a:xfrm>
          <a:prstGeom prst="rect">
            <a:avLst/>
          </a:prstGeom>
          <a:noFill/>
        </p:spPr>
        <p:txBody>
          <a:bodyPr wrap="square">
            <a:spAutoFit/>
          </a:bodyPr>
          <a:lstStyle/>
          <a:p>
            <a:pPr algn="l"/>
            <a:r>
              <a:rPr sz="1200" b="0" i="0">
                <a:solidFill>
                  <a:srgbClr val="55657A"/>
                </a:solidFill>
              </a:rPr>
              <a:t>Apply: delay / fake_vuln / honeytoken</a:t>
            </a:r>
          </a:p>
        </p:txBody>
      </p:sp>
      <p:sp>
        <p:nvSpPr>
          <p:cNvPr id="54" name="Rectangle 53"/>
          <p:cNvSpPr/>
          <p:nvPr/>
        </p:nvSpPr>
        <p:spPr>
          <a:xfrm>
            <a:off x="6400800" y="5056631"/>
            <a:ext cx="5486400" cy="109728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400800" y="5056631"/>
            <a:ext cx="5486400" cy="64008"/>
          </a:xfrm>
          <a:prstGeom prst="rect">
            <a:avLst/>
          </a:prstGeom>
          <a:solidFill>
            <a:srgbClr val="6A4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400800" y="5056631"/>
            <a:ext cx="566928" cy="1097280"/>
          </a:xfrm>
          <a:prstGeom prst="rect">
            <a:avLst/>
          </a:prstGeom>
          <a:solidFill>
            <a:srgbClr val="6A4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09944" y="5330951"/>
            <a:ext cx="548640" cy="502920"/>
          </a:xfrm>
          <a:prstGeom prst="rect">
            <a:avLst/>
          </a:prstGeom>
          <a:noFill/>
        </p:spPr>
        <p:txBody>
          <a:bodyPr wrap="square">
            <a:spAutoFit/>
          </a:bodyPr>
          <a:lstStyle/>
          <a:p>
            <a:pPr algn="ctr"/>
            <a:r>
              <a:rPr sz="2200" b="1" i="0">
                <a:solidFill>
                  <a:srgbClr val="FFFFFF"/>
                </a:solidFill>
              </a:rPr>
              <a:t>4</a:t>
            </a:r>
          </a:p>
        </p:txBody>
      </p:sp>
      <p:sp>
        <p:nvSpPr>
          <p:cNvPr id="58" name="TextBox 57"/>
          <p:cNvSpPr txBox="1"/>
          <p:nvPr/>
        </p:nvSpPr>
        <p:spPr>
          <a:xfrm>
            <a:off x="7114032" y="5148071"/>
            <a:ext cx="4572000" cy="411480"/>
          </a:xfrm>
          <a:prstGeom prst="rect">
            <a:avLst/>
          </a:prstGeom>
          <a:noFill/>
        </p:spPr>
        <p:txBody>
          <a:bodyPr wrap="square">
            <a:spAutoFit/>
          </a:bodyPr>
          <a:lstStyle/>
          <a:p>
            <a:pPr algn="l"/>
            <a:r>
              <a:rPr sz="1600" b="1" i="0">
                <a:solidFill>
                  <a:srgbClr val="6A40C4"/>
                </a:solidFill>
              </a:rPr>
              <a:t>EVALUATE</a:t>
            </a:r>
          </a:p>
        </p:txBody>
      </p:sp>
      <p:sp>
        <p:nvSpPr>
          <p:cNvPr id="59" name="TextBox 58"/>
          <p:cNvSpPr txBox="1"/>
          <p:nvPr/>
        </p:nvSpPr>
        <p:spPr>
          <a:xfrm>
            <a:off x="7114032" y="5623559"/>
            <a:ext cx="4572000" cy="411480"/>
          </a:xfrm>
          <a:prstGeom prst="rect">
            <a:avLst/>
          </a:prstGeom>
          <a:noFill/>
        </p:spPr>
        <p:txBody>
          <a:bodyPr wrap="square">
            <a:spAutoFit/>
          </a:bodyPr>
          <a:lstStyle/>
          <a:p>
            <a:pPr algn="l"/>
            <a:r>
              <a:rPr sz="1200" b="0" i="0">
                <a:solidFill>
                  <a:srgbClr val="55657A"/>
                </a:solidFill>
              </a:rPr>
              <a:t>Store experience, update scores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02920"/>
          </a:xfrm>
          <a:prstGeom prst="rect">
            <a:avLst/>
          </a:prstGeom>
          <a:solidFill>
            <a:srgbClr val="1A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91440"/>
            <a:ext cx="9144000" cy="411480"/>
          </a:xfrm>
          <a:prstGeom prst="rect">
            <a:avLst/>
          </a:prstGeom>
          <a:noFill/>
        </p:spPr>
        <p:txBody>
          <a:bodyPr wrap="square">
            <a:spAutoFit/>
          </a:bodyPr>
          <a:lstStyle/>
          <a:p>
            <a:pPr algn="l"/>
            <a:r>
              <a:rPr sz="2200" b="1" i="0">
                <a:solidFill>
                  <a:srgbClr val="FFFFFF"/>
                </a:solidFill>
              </a:rPr>
              <a:t>Results &amp; Takeaways</a:t>
            </a:r>
          </a:p>
        </p:txBody>
      </p:sp>
      <p:sp>
        <p:nvSpPr>
          <p:cNvPr id="4" name="Rectangle 3"/>
          <p:cNvSpPr/>
          <p:nvPr/>
        </p:nvSpPr>
        <p:spPr>
          <a:xfrm>
            <a:off x="365760" y="658368"/>
            <a:ext cx="2606040" cy="141732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658368"/>
            <a:ext cx="2606040" cy="64008"/>
          </a:xfrm>
          <a:prstGeom prst="rect">
            <a:avLst/>
          </a:prstGeom>
          <a:solidFill>
            <a:srgbClr val="0087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731520"/>
            <a:ext cx="2423160" cy="777240"/>
          </a:xfrm>
          <a:prstGeom prst="rect">
            <a:avLst/>
          </a:prstGeom>
          <a:noFill/>
        </p:spPr>
        <p:txBody>
          <a:bodyPr wrap="square">
            <a:spAutoFit/>
          </a:bodyPr>
          <a:lstStyle/>
          <a:p>
            <a:pPr algn="ctr"/>
            <a:r>
              <a:rPr sz="4600" b="1" i="0">
                <a:solidFill>
                  <a:srgbClr val="0087A8"/>
                </a:solidFill>
              </a:rPr>
              <a:t>6</a:t>
            </a:r>
          </a:p>
        </p:txBody>
      </p:sp>
      <p:sp>
        <p:nvSpPr>
          <p:cNvPr id="7" name="TextBox 6"/>
          <p:cNvSpPr txBox="1"/>
          <p:nvPr/>
        </p:nvSpPr>
        <p:spPr>
          <a:xfrm>
            <a:off x="457200" y="1417320"/>
            <a:ext cx="2423160" cy="548640"/>
          </a:xfrm>
          <a:prstGeom prst="rect">
            <a:avLst/>
          </a:prstGeom>
          <a:noFill/>
        </p:spPr>
        <p:txBody>
          <a:bodyPr wrap="square">
            <a:spAutoFit/>
          </a:bodyPr>
          <a:lstStyle/>
          <a:p>
            <a:pPr algn="ctr"/>
            <a:r>
              <a:rPr sz="1100" b="0" i="0">
                <a:solidFill>
                  <a:srgbClr val="55657A"/>
                </a:solidFill>
              </a:rPr>
              <a:t>Attack Phases
Simulated</a:t>
            </a:r>
          </a:p>
        </p:txBody>
      </p:sp>
      <p:sp>
        <p:nvSpPr>
          <p:cNvPr id="8" name="Rectangle 7"/>
          <p:cNvSpPr/>
          <p:nvPr/>
        </p:nvSpPr>
        <p:spPr>
          <a:xfrm>
            <a:off x="3246120" y="658368"/>
            <a:ext cx="2606040" cy="141732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46120" y="658368"/>
            <a:ext cx="2606040" cy="64008"/>
          </a:xfrm>
          <a:prstGeom prst="rect">
            <a:avLst/>
          </a:prstGeom>
          <a:solidFill>
            <a:srgbClr val="D48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37560" y="731520"/>
            <a:ext cx="2423160" cy="777240"/>
          </a:xfrm>
          <a:prstGeom prst="rect">
            <a:avLst/>
          </a:prstGeom>
          <a:noFill/>
        </p:spPr>
        <p:txBody>
          <a:bodyPr wrap="square">
            <a:spAutoFit/>
          </a:bodyPr>
          <a:lstStyle/>
          <a:p>
            <a:pPr algn="ctr"/>
            <a:r>
              <a:rPr sz="4600" b="1" i="0">
                <a:solidFill>
                  <a:srgbClr val="D48E00"/>
                </a:solidFill>
              </a:rPr>
              <a:t>4</a:t>
            </a:r>
          </a:p>
        </p:txBody>
      </p:sp>
      <p:sp>
        <p:nvSpPr>
          <p:cNvPr id="11" name="TextBox 10"/>
          <p:cNvSpPr txBox="1"/>
          <p:nvPr/>
        </p:nvSpPr>
        <p:spPr>
          <a:xfrm>
            <a:off x="3337560" y="1417320"/>
            <a:ext cx="2423160" cy="548640"/>
          </a:xfrm>
          <a:prstGeom prst="rect">
            <a:avLst/>
          </a:prstGeom>
          <a:noFill/>
        </p:spPr>
        <p:txBody>
          <a:bodyPr wrap="square">
            <a:spAutoFit/>
          </a:bodyPr>
          <a:lstStyle/>
          <a:p>
            <a:pPr algn="ctr"/>
            <a:r>
              <a:rPr sz="1100" b="0" i="0">
                <a:solidFill>
                  <a:srgbClr val="55657A"/>
                </a:solidFill>
              </a:rPr>
              <a:t>Agent Actions
Available</a:t>
            </a:r>
          </a:p>
        </p:txBody>
      </p:sp>
      <p:sp>
        <p:nvSpPr>
          <p:cNvPr id="12" name="Rectangle 11"/>
          <p:cNvSpPr/>
          <p:nvPr/>
        </p:nvSpPr>
        <p:spPr>
          <a:xfrm>
            <a:off x="6126480" y="658368"/>
            <a:ext cx="2606040" cy="141732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658368"/>
            <a:ext cx="2606040" cy="64008"/>
          </a:xfrm>
          <a:prstGeom prst="rect">
            <a:avLst/>
          </a:prstGeom>
          <a:solidFill>
            <a:srgbClr val="1A7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731520"/>
            <a:ext cx="2423160" cy="777240"/>
          </a:xfrm>
          <a:prstGeom prst="rect">
            <a:avLst/>
          </a:prstGeom>
          <a:noFill/>
        </p:spPr>
        <p:txBody>
          <a:bodyPr wrap="square">
            <a:spAutoFit/>
          </a:bodyPr>
          <a:lstStyle/>
          <a:p>
            <a:pPr algn="ctr"/>
            <a:r>
              <a:rPr sz="4600" b="1" i="0">
                <a:solidFill>
                  <a:srgbClr val="1A7A50"/>
                </a:solidFill>
              </a:rPr>
              <a:t>100</a:t>
            </a:r>
          </a:p>
        </p:txBody>
      </p:sp>
      <p:sp>
        <p:nvSpPr>
          <p:cNvPr id="15" name="TextBox 14"/>
          <p:cNvSpPr txBox="1"/>
          <p:nvPr/>
        </p:nvSpPr>
        <p:spPr>
          <a:xfrm>
            <a:off x="6217920" y="1417320"/>
            <a:ext cx="2423160" cy="548640"/>
          </a:xfrm>
          <a:prstGeom prst="rect">
            <a:avLst/>
          </a:prstGeom>
          <a:noFill/>
        </p:spPr>
        <p:txBody>
          <a:bodyPr wrap="square">
            <a:spAutoFit/>
          </a:bodyPr>
          <a:lstStyle/>
          <a:p>
            <a:pPr algn="ctr"/>
            <a:r>
              <a:rPr sz="1100" b="0" i="0">
                <a:solidFill>
                  <a:srgbClr val="55657A"/>
                </a:solidFill>
              </a:rPr>
              <a:t>Memory Exp.
Capacity</a:t>
            </a:r>
          </a:p>
        </p:txBody>
      </p:sp>
      <p:sp>
        <p:nvSpPr>
          <p:cNvPr id="16" name="Rectangle 15"/>
          <p:cNvSpPr/>
          <p:nvPr/>
        </p:nvSpPr>
        <p:spPr>
          <a:xfrm>
            <a:off x="9006840" y="658368"/>
            <a:ext cx="2606040" cy="141732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06840" y="658368"/>
            <a:ext cx="2606040" cy="64008"/>
          </a:xfrm>
          <a:prstGeom prst="rect">
            <a:avLst/>
          </a:prstGeom>
          <a:solidFill>
            <a:srgbClr val="6A4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8280" y="731520"/>
            <a:ext cx="2423160" cy="777240"/>
          </a:xfrm>
          <a:prstGeom prst="rect">
            <a:avLst/>
          </a:prstGeom>
          <a:noFill/>
        </p:spPr>
        <p:txBody>
          <a:bodyPr wrap="square">
            <a:spAutoFit/>
          </a:bodyPr>
          <a:lstStyle/>
          <a:p>
            <a:pPr algn="ctr"/>
            <a:r>
              <a:rPr sz="4600" b="1" i="0">
                <a:solidFill>
                  <a:srgbClr val="6A40C4"/>
                </a:solidFill>
              </a:rPr>
              <a:t>4</a:t>
            </a:r>
          </a:p>
        </p:txBody>
      </p:sp>
      <p:sp>
        <p:nvSpPr>
          <p:cNvPr id="19" name="TextBox 18"/>
          <p:cNvSpPr txBox="1"/>
          <p:nvPr/>
        </p:nvSpPr>
        <p:spPr>
          <a:xfrm>
            <a:off x="9098280" y="1417320"/>
            <a:ext cx="2423160" cy="548640"/>
          </a:xfrm>
          <a:prstGeom prst="rect">
            <a:avLst/>
          </a:prstGeom>
          <a:noFill/>
        </p:spPr>
        <p:txBody>
          <a:bodyPr wrap="square">
            <a:spAutoFit/>
          </a:bodyPr>
          <a:lstStyle/>
          <a:p>
            <a:pPr algn="ctr"/>
            <a:r>
              <a:rPr sz="1100" b="0" i="0">
                <a:solidFill>
                  <a:srgbClr val="55657A"/>
                </a:solidFill>
              </a:rPr>
              <a:t>Dashboard
Tabs</a:t>
            </a:r>
          </a:p>
        </p:txBody>
      </p:sp>
      <p:sp>
        <p:nvSpPr>
          <p:cNvPr id="20" name="Rectangle 19"/>
          <p:cNvSpPr/>
          <p:nvPr/>
        </p:nvSpPr>
        <p:spPr>
          <a:xfrm>
            <a:off x="365760" y="2286000"/>
            <a:ext cx="5486400" cy="429768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2286000"/>
            <a:ext cx="5486400" cy="64008"/>
          </a:xfrm>
          <a:prstGeom prst="rect">
            <a:avLst/>
          </a:prstGeom>
          <a:solidFill>
            <a:srgbClr val="1A7A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2450592"/>
            <a:ext cx="5120640" cy="411480"/>
          </a:xfrm>
          <a:prstGeom prst="rect">
            <a:avLst/>
          </a:prstGeom>
          <a:noFill/>
        </p:spPr>
        <p:txBody>
          <a:bodyPr wrap="square">
            <a:spAutoFit/>
          </a:bodyPr>
          <a:lstStyle/>
          <a:p>
            <a:pPr algn="l"/>
            <a:r>
              <a:rPr sz="1500" b="1" i="0">
                <a:solidFill>
                  <a:srgbClr val="1A7A50"/>
                </a:solidFill>
              </a:rPr>
              <a:t>✅  What Worked Well</a:t>
            </a:r>
          </a:p>
        </p:txBody>
      </p:sp>
      <p:sp>
        <p:nvSpPr>
          <p:cNvPr id="23" name="TextBox 22"/>
          <p:cNvSpPr txBox="1"/>
          <p:nvPr/>
        </p:nvSpPr>
        <p:spPr>
          <a:xfrm>
            <a:off x="548640" y="2944368"/>
            <a:ext cx="5120640" cy="3474720"/>
          </a:xfrm>
          <a:prstGeom prst="rect">
            <a:avLst/>
          </a:prstGeom>
          <a:noFill/>
        </p:spPr>
        <p:txBody>
          <a:bodyPr wrap="square">
            <a:spAutoFit/>
          </a:bodyPr>
          <a:lstStyle/>
          <a:p>
            <a:pPr>
              <a:spcBef>
                <a:spcPts val="300"/>
              </a:spcBef>
            </a:pPr>
            <a:r>
              <a:rPr sz="1300">
                <a:solidFill>
                  <a:srgbClr val="55657A"/>
                </a:solidFill>
              </a:rPr>
              <a:t>▸  Agent adapted strategy to attacker phase in real time</a:t>
            </a:r>
          </a:p>
          <a:p>
            <a:pPr>
              <a:spcBef>
                <a:spcPts val="300"/>
              </a:spcBef>
            </a:pPr>
            <a:r>
              <a:rPr sz="1300">
                <a:solidFill>
                  <a:srgbClr val="55657A"/>
                </a:solidFill>
              </a:rPr>
              <a:t>▸  Brute force → login delay;  exploit → fake endpoints</a:t>
            </a:r>
          </a:p>
          <a:p>
            <a:pPr>
              <a:spcBef>
                <a:spcPts val="300"/>
              </a:spcBef>
            </a:pPr>
            <a:r>
              <a:rPr sz="1300">
                <a:solidFill>
                  <a:srgbClr val="55657A"/>
                </a:solidFill>
              </a:rPr>
              <a:t>▸  Deception artifacts influenced attacker progression</a:t>
            </a:r>
          </a:p>
          <a:p>
            <a:pPr>
              <a:spcBef>
                <a:spcPts val="300"/>
              </a:spcBef>
            </a:pPr>
            <a:r>
              <a:rPr sz="1300">
                <a:solidFill>
                  <a:srgbClr val="55657A"/>
                </a:solidFill>
              </a:rPr>
              <a:t>▸  Memory layer prevented redundant repeated actions</a:t>
            </a:r>
          </a:p>
          <a:p>
            <a:pPr>
              <a:spcBef>
                <a:spcPts val="300"/>
              </a:spcBef>
            </a:pPr>
            <a:r>
              <a:rPr sz="1300">
                <a:solidFill>
                  <a:srgbClr val="55657A"/>
                </a:solidFill>
              </a:rPr>
              <a:t>▸  Dashboard gave clear visual insight into all activity</a:t>
            </a:r>
          </a:p>
        </p:txBody>
      </p:sp>
      <p:sp>
        <p:nvSpPr>
          <p:cNvPr id="24" name="Rectangle 23"/>
          <p:cNvSpPr/>
          <p:nvPr/>
        </p:nvSpPr>
        <p:spPr>
          <a:xfrm>
            <a:off x="6263640" y="2286000"/>
            <a:ext cx="5486400" cy="4297680"/>
          </a:xfrm>
          <a:prstGeom prst="rect">
            <a:avLst/>
          </a:prstGeom>
          <a:solidFill>
            <a:srgbClr val="F0F4F8"/>
          </a:solidFill>
          <a:ln w="12700">
            <a:solidFill>
              <a:srgbClr val="E2E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3640" y="2286000"/>
            <a:ext cx="5486400" cy="64008"/>
          </a:xfrm>
          <a:prstGeom prst="rect">
            <a:avLst/>
          </a:prstGeom>
          <a:solidFill>
            <a:srgbClr val="D48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2450592"/>
            <a:ext cx="5120640" cy="411480"/>
          </a:xfrm>
          <a:prstGeom prst="rect">
            <a:avLst/>
          </a:prstGeom>
          <a:noFill/>
        </p:spPr>
        <p:txBody>
          <a:bodyPr wrap="square">
            <a:spAutoFit/>
          </a:bodyPr>
          <a:lstStyle/>
          <a:p>
            <a:pPr algn="l"/>
            <a:r>
              <a:rPr sz="1500" b="1" i="0">
                <a:solidFill>
                  <a:srgbClr val="D48E00"/>
                </a:solidFill>
              </a:rPr>
              <a:t>🔧  Future Improvements</a:t>
            </a:r>
          </a:p>
        </p:txBody>
      </p:sp>
      <p:sp>
        <p:nvSpPr>
          <p:cNvPr id="27" name="TextBox 26"/>
          <p:cNvSpPr txBox="1"/>
          <p:nvPr/>
        </p:nvSpPr>
        <p:spPr>
          <a:xfrm>
            <a:off x="6446520" y="2944368"/>
            <a:ext cx="5120640" cy="3474720"/>
          </a:xfrm>
          <a:prstGeom prst="rect">
            <a:avLst/>
          </a:prstGeom>
          <a:noFill/>
        </p:spPr>
        <p:txBody>
          <a:bodyPr wrap="square">
            <a:spAutoFit/>
          </a:bodyPr>
          <a:lstStyle/>
          <a:p>
            <a:pPr>
              <a:spcBef>
                <a:spcPts val="300"/>
              </a:spcBef>
            </a:pPr>
            <a:r>
              <a:rPr sz="1300">
                <a:solidFill>
                  <a:srgbClr val="55657A"/>
                </a:solidFill>
              </a:rPr>
              <a:t>▸  Add real log integration (SSH / web server logs)</a:t>
            </a:r>
          </a:p>
          <a:p>
            <a:pPr>
              <a:spcBef>
                <a:spcPts val="300"/>
              </a:spcBef>
            </a:pPr>
            <a:r>
              <a:rPr sz="1300">
                <a:solidFill>
                  <a:srgbClr val="55657A"/>
                </a:solidFill>
              </a:rPr>
              <a:t>▸  Persist agent memory across app restarts</a:t>
            </a:r>
          </a:p>
          <a:p>
            <a:pPr>
              <a:spcBef>
                <a:spcPts val="300"/>
              </a:spcBef>
            </a:pPr>
            <a:r>
              <a:rPr sz="1300">
                <a:solidFill>
                  <a:srgbClr val="55657A"/>
                </a:solidFill>
              </a:rPr>
              <a:t>▸  Replace heuristic scoring with RL-based rewards</a:t>
            </a:r>
          </a:p>
          <a:p>
            <a:pPr>
              <a:spcBef>
                <a:spcPts val="300"/>
              </a:spcBef>
            </a:pPr>
            <a:r>
              <a:rPr sz="1300">
                <a:solidFill>
                  <a:srgbClr val="55657A"/>
                </a:solidFill>
              </a:rPr>
              <a:t>▸  Expand Gemini prompt with richer context window</a:t>
            </a:r>
          </a:p>
          <a:p>
            <a:pPr>
              <a:spcBef>
                <a:spcPts val="300"/>
              </a:spcBef>
            </a:pPr>
            <a:r>
              <a:rPr sz="1300">
                <a:solidFill>
                  <a:srgbClr val="55657A"/>
                </a:solidFill>
              </a:rPr>
              <a:t>▸  Multi-honeypot coordination &amp; attacker clustering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